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f8afcf3364a3f" /><Relationship Type="http://schemas.openxmlformats.org/officeDocument/2006/relationships/extended-properties" Target="/docProps/app.xml" Id="Re46172b5ccf0408f" /><Relationship Type="http://schemas.openxmlformats.org/officeDocument/2006/relationships/officeDocument" Target="/ppt/presentation.xml" Id="R972cacf3937844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d2ed60693458a"/>
  </p:sldMasterIdLst>
  <p:notesMasterIdLst>
    <p:notesMasterId xmlns:r="http://schemas.openxmlformats.org/officeDocument/2006/relationships" r:id="R14cc6798840c4b8c"/>
  </p:notesMasterIdLst>
  <p:sldIdLst>
    <p:sldId xmlns:r="http://schemas.openxmlformats.org/officeDocument/2006/relationships" id="256" r:id="R155bdb2309b5463b"/>
    <p:sldId xmlns:r="http://schemas.openxmlformats.org/officeDocument/2006/relationships" id="257" r:id="R0eb0614afdad4fb7"/>
    <p:sldId xmlns:r="http://schemas.openxmlformats.org/officeDocument/2006/relationships" id="258" r:id="Rc933488afd9844dc"/>
    <p:sldId xmlns:r="http://schemas.openxmlformats.org/officeDocument/2006/relationships" id="259" r:id="R89c38709cf5a42c2"/>
    <p:sldId xmlns:r="http://schemas.openxmlformats.org/officeDocument/2006/relationships" id="260" r:id="R0dfd571d80f04720"/>
    <p:sldId xmlns:r="http://schemas.openxmlformats.org/officeDocument/2006/relationships" id="261" r:id="R70caba012c1b4d50"/>
    <p:sldId xmlns:r="http://schemas.openxmlformats.org/officeDocument/2006/relationships" id="262" r:id="Rb59d9a84a550444f"/>
    <p:sldId xmlns:r="http://schemas.openxmlformats.org/officeDocument/2006/relationships" id="263" r:id="R1944333a63eb4900"/>
    <p:sldId xmlns:r="http://schemas.openxmlformats.org/officeDocument/2006/relationships" id="264" r:id="Re167b8831a5e4145"/>
    <p:sldId xmlns:r="http://schemas.openxmlformats.org/officeDocument/2006/relationships" id="265" r:id="R6f940343ede94baf"/>
    <p:sldId xmlns:r="http://schemas.openxmlformats.org/officeDocument/2006/relationships" id="266" r:id="R3437ba9cde4f4c74"/>
    <p:sldId xmlns:r="http://schemas.openxmlformats.org/officeDocument/2006/relationships" id="267" r:id="R14fa25875c794f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dba330578b424a" /><Relationship Type="http://schemas.openxmlformats.org/officeDocument/2006/relationships/slideMaster" Target="/ppt/slideMasters/slideMaster1.xml" Id="Rbd4d2ed60693458a" /><Relationship Type="http://schemas.openxmlformats.org/officeDocument/2006/relationships/notesMaster" Target="/ppt/notesMasters/notesMaster1.xml" Id="R14cc6798840c4b8c" /><Relationship Type="http://schemas.openxmlformats.org/officeDocument/2006/relationships/presProps" Target="/ppt/presProps.xml" Id="Rc4a15a28fad94e71" /><Relationship Type="http://schemas.openxmlformats.org/officeDocument/2006/relationships/tableStyles" Target="/ppt/tableStyles.xml" Id="Ref64247fd89048de" /><Relationship Type="http://schemas.openxmlformats.org/officeDocument/2006/relationships/slide" Target="/ppt/slides/slide1.xml" Id="R155bdb2309b5463b" /><Relationship Type="http://schemas.openxmlformats.org/officeDocument/2006/relationships/slide" Target="/ppt/slides/slide2.xml" Id="R0eb0614afdad4fb7" /><Relationship Type="http://schemas.openxmlformats.org/officeDocument/2006/relationships/slide" Target="/ppt/slides/slide3.xml" Id="Rc933488afd9844dc" /><Relationship Type="http://schemas.openxmlformats.org/officeDocument/2006/relationships/slide" Target="/ppt/slides/slide4.xml" Id="R89c38709cf5a42c2" /><Relationship Type="http://schemas.openxmlformats.org/officeDocument/2006/relationships/slide" Target="/ppt/slides/slide5.xml" Id="R0dfd571d80f04720" /><Relationship Type="http://schemas.openxmlformats.org/officeDocument/2006/relationships/slide" Target="/ppt/slides/slide6.xml" Id="R70caba012c1b4d50" /><Relationship Type="http://schemas.openxmlformats.org/officeDocument/2006/relationships/slide" Target="/ppt/slides/slide7.xml" Id="Rb59d9a84a550444f" /><Relationship Type="http://schemas.openxmlformats.org/officeDocument/2006/relationships/slide" Target="/ppt/slides/slide8.xml" Id="R1944333a63eb4900" /><Relationship Type="http://schemas.openxmlformats.org/officeDocument/2006/relationships/slide" Target="/ppt/slides/slide9.xml" Id="Re167b8831a5e4145" /><Relationship Type="http://schemas.openxmlformats.org/officeDocument/2006/relationships/slide" Target="/ppt/slides/slide10.xml" Id="R6f940343ede94baf" /><Relationship Type="http://schemas.openxmlformats.org/officeDocument/2006/relationships/slide" Target="/ppt/slides/slide11.xml" Id="R3437ba9cde4f4c74" /><Relationship Type="http://schemas.openxmlformats.org/officeDocument/2006/relationships/slide" Target="/ppt/slides/slide12.xml" Id="R14fa25875c79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a7f891176349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f6f375c7824119" /><Relationship Type="http://schemas.openxmlformats.org/officeDocument/2006/relationships/notesMaster" Target="/ppt/notesMasters/notesMaster1.xml" Id="Rd61af6ddb78a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1f7c6426b34d80" /><Relationship Type="http://schemas.openxmlformats.org/officeDocument/2006/relationships/notesMaster" Target="/ppt/notesMasters/notesMaster1.xml" Id="Rb7a1137bb30640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aaec67445340ea" /><Relationship Type="http://schemas.openxmlformats.org/officeDocument/2006/relationships/notesMaster" Target="/ppt/notesMasters/notesMaster1.xml" Id="Rc7dd13c8073f40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cbd5acb4f4684" /><Relationship Type="http://schemas.openxmlformats.org/officeDocument/2006/relationships/notesMaster" Target="/ppt/notesMasters/notesMaster1.xml" Id="R2c05b75ba6aa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40b92b33004c83" /><Relationship Type="http://schemas.openxmlformats.org/officeDocument/2006/relationships/notesMaster" Target="/ppt/notesMasters/notesMaster1.xml" Id="R0118804abba849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071ec6c6b4938" /><Relationship Type="http://schemas.openxmlformats.org/officeDocument/2006/relationships/notesMaster" Target="/ppt/notesMasters/notesMaster1.xml" Id="R5bc76fea2d564a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cc7fa09e704391" /><Relationship Type="http://schemas.openxmlformats.org/officeDocument/2006/relationships/notesMaster" Target="/ppt/notesMasters/notesMaster1.xml" Id="Re1e9641a3c9849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8e6b1a16384794" /><Relationship Type="http://schemas.openxmlformats.org/officeDocument/2006/relationships/notesMaster" Target="/ppt/notesMasters/notesMaster1.xml" Id="R34402565204f4f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3da042510c47c8" /><Relationship Type="http://schemas.openxmlformats.org/officeDocument/2006/relationships/notesMaster" Target="/ppt/notesMasters/notesMaster1.xml" Id="R4b588665f23f45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3b13584dba4f0b" /><Relationship Type="http://schemas.openxmlformats.org/officeDocument/2006/relationships/notesMaster" Target="/ppt/notesMasters/notesMaster1.xml" Id="Rc972971169814d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585d4f32674aa6" /><Relationship Type="http://schemas.openxmlformats.org/officeDocument/2006/relationships/notesMaster" Target="/ppt/notesMasters/notesMaster1.xml" Id="Rc650ff15baf04d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855dcc38db4f54" /><Relationship Type="http://schemas.openxmlformats.org/officeDocument/2006/relationships/notesMaster" Target="/ppt/notesMasters/notesMaster1.xml" Id="Rf18f7c113f3a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729db4252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df8270fb54783" /><Relationship Type="http://schemas.openxmlformats.org/officeDocument/2006/relationships/slideLayout" Target="/ppt/slideLayouts/slideLayout1.xml" Id="R96404db18ad6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404db18ad6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be384d2ef4aec" /><Relationship Type="http://schemas.openxmlformats.org/officeDocument/2006/relationships/image" Target="/ppt/media/image.jpeg" Id="R7eb7cb6bacd54d7f" /><Relationship Type="http://schemas.openxmlformats.org/officeDocument/2006/relationships/notesSlide" Target="/ppt/notesSlides/notesSlide1.xml" Id="Ra0fbdc39fa1745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9fc1353584040" /><Relationship Type="http://schemas.openxmlformats.org/officeDocument/2006/relationships/image" Target="/ppt/media/image2.jpeg" Id="R9d34adca1245446b" /><Relationship Type="http://schemas.openxmlformats.org/officeDocument/2006/relationships/notesSlide" Target="/ppt/notesSlides/notesSlide2.xml" Id="Rd4b73e9a0fb5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d5cf05c947c6" /><Relationship Type="http://schemas.openxmlformats.org/officeDocument/2006/relationships/notesSlide" Target="/ppt/notesSlides/notesSlide3.xml" Id="R4e0704a24b30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e46ddb3ad46de" /><Relationship Type="http://schemas.openxmlformats.org/officeDocument/2006/relationships/image" Target="/ppt/media/image3.jpeg" Id="Rbb9463de83c849c6" /><Relationship Type="http://schemas.openxmlformats.org/officeDocument/2006/relationships/notesSlide" Target="/ppt/notesSlides/notesSlide4.xml" Id="R15855a2dc956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8fdadc22c43b0" /><Relationship Type="http://schemas.openxmlformats.org/officeDocument/2006/relationships/image" Target="/ppt/media/image4.jpeg" Id="R1517ba5dcb4442a2" /><Relationship Type="http://schemas.openxmlformats.org/officeDocument/2006/relationships/notesSlide" Target="/ppt/notesSlides/notesSlide5.xml" Id="Rf14b58dc649a44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cc8c787f04734" /><Relationship Type="http://schemas.openxmlformats.org/officeDocument/2006/relationships/notesSlide" Target="/ppt/notesSlides/notesSlide6.xml" Id="R35572798831e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2ff172b4a410d" /><Relationship Type="http://schemas.openxmlformats.org/officeDocument/2006/relationships/notesSlide" Target="/ppt/notesSlides/notesSlide7.xml" Id="Ra88435d53c42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78fb1669c4e8b" /><Relationship Type="http://schemas.openxmlformats.org/officeDocument/2006/relationships/image" Target="/ppt/media/image5.jpeg" Id="Rb4d7a5fb96864701" /><Relationship Type="http://schemas.openxmlformats.org/officeDocument/2006/relationships/notesSlide" Target="/ppt/notesSlides/notesSlide8.xml" Id="R15d0fa465d0b45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c69b6ece04ac3" /><Relationship Type="http://schemas.openxmlformats.org/officeDocument/2006/relationships/image" Target="/ppt/media/image.png" Id="Rc5d8ffa801f14d71" /><Relationship Type="http://schemas.openxmlformats.org/officeDocument/2006/relationships/image" Target="/ppt/media/image2.png" Id="R30b5727032634e7b" /><Relationship Type="http://schemas.openxmlformats.org/officeDocument/2006/relationships/image" Target="/ppt/media/image3.png" Id="R4e12d9f5dbd64c41" /><Relationship Type="http://schemas.openxmlformats.org/officeDocument/2006/relationships/image" Target="/ppt/media/image4.png" Id="R78870f14a55d46fd" /><Relationship Type="http://schemas.openxmlformats.org/officeDocument/2006/relationships/notesSlide" Target="/ppt/notesSlides/notesSlide9.xml" Id="R60445f35dc5243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43b38ca9a49d5" /><Relationship Type="http://schemas.openxmlformats.org/officeDocument/2006/relationships/notesSlide" Target="/ppt/notesSlides/notesSlide10.xml" Id="R444ca5f4f36442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036d9819a4fb3" /><Relationship Type="http://schemas.openxmlformats.org/officeDocument/2006/relationships/notesSlide" Target="/ppt/notesSlides/notesSlide11.xml" Id="Rea73f6b6824642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bece9f4fd4e89" /><Relationship Type="http://schemas.openxmlformats.org/officeDocument/2006/relationships/image" Target="/ppt/media/image6.jpeg" Id="Rcce2344ccd044a0f" /><Relationship Type="http://schemas.openxmlformats.org/officeDocument/2006/relationships/notesSlide" Target="/ppt/notesSlides/notesSlide12.xml" Id="R46d2ad3e09ba45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7cb6bacd54d7f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2DB6A-425E-4C36-BC37-F7F9B08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7378-5006-47A7-B3A0-F381464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F35A"/>
                </a:solidFill>
              </a:defRPr>
            </a:pPr>
            <a:r>
              <a:rPr sz="2250" b="1">
                <a:solidFill>
                  <a:srgbClr val="D9F35A"/>
                </a:solidFill>
              </a:rPr>
              <a:t>鹏飞集团杯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50C0A-FA1C-43BA-A095-E8DA508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氢筑新程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马拉松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731E-6D12-418D-AF9D-0FDB15E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DDEC9"/>
                </a:solidFill>
              </a:defRPr>
            </a:pPr>
            <a:r>
              <a:rPr sz="2550" b="1">
                <a:solidFill>
                  <a:srgbClr val="9DDEC9"/>
                </a:solidFill>
              </a:rPr>
              <a:t>氢筑新程，为爱奔跑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7EE37-EBA0-4826-A3A8-C46ED40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0E662-2823-4258-8D95-A4D1EAB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独家总冠名合作提案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0990C-80DA-4EF5-9B6F-C59F1093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为带给你阳光的人奔跑</a:t>
            </a:r>
          </a:p>
        </p:txBody>
      </p:sp>
    </p:spTree>
    <p:extLst>
      <p:ext uri="{BB962C8B-B14F-4D97-AF65-F5344CB8AC3E}">
        <p14:creationId xmlns:p14="http://schemas.microsoft.com/office/powerpoint/2010/main" val="1948204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9EE27-28A0-4D2A-999E-67995C4C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01 / 赛事价值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E79E3-B501-4905-AD06-B7427883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这场赛事，让品牌影响力与社会价值同向增长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2739E-0618-42D6-A4FF-C97BB52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4adca1245446b"/>
          <a:srcRect xmlns:a="http://schemas.openxmlformats.org/drawingml/2006/main" l="7941" t="0" r="7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4785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659C-84EA-4D22-822A-A49547C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7358"/>
                </a:solidFill>
              </a:defRPr>
            </a:pPr>
            <a:r>
              <a:rPr sz="4800" b="1">
                <a:solidFill>
                  <a:srgbClr val="0B7358"/>
                </a:solidFill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C48DB-81F5-4591-A8D3-6227442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</a:defRPr>
            </a:pPr>
            <a:r>
              <a:rPr sz="1800" b="1">
                <a:solidFill>
                  <a:srgbClr val="10231F"/>
                </a:solidFill>
              </a:rPr>
              <a:t>报名费捐赠点爱基金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63686-8B1B-4ADB-95E8-6F43B99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01A7D-1193-4917-AA56-1ACA337D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绿色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D1D13-7110-4D90-B312-B7023C5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氢能理念进入真实赛事场景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7597B-F3F6-46F8-BFC0-9B66FAE9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1538D-6267-4157-8CFF-7F48A73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公益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6DF0D-9D12-457B-8C33-1F1097B8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每一次报名都形成可追踪善意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38A3-D1DB-4C23-93A1-BEE06EA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4DA33-6811-4274-A54F-08F11EBF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城市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69FD2-53AD-4672-8917-899769E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483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跑者、媒体与消费场景集中汇聚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BC31C-EA86-42D8-A2BA-AB0538B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1677427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F17B7-D9C3-42A7-88F0-B3D844D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02 / 鹏飞合作价值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400D2-06E1-406D-B09E-A4EEEDE1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一次冠名，带动五个品牌目标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269C0-8B82-404A-8BDF-6F42C54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8DF37-524F-4314-B40E-10E61A3A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DDEC9"/>
                </a:solidFill>
              </a:defRPr>
            </a:pPr>
            <a:r>
              <a:rPr sz="2100" b="0">
                <a:solidFill>
                  <a:srgbClr val="9DDEC9"/>
                </a:solidFill>
              </a:rPr>
              <a:t>不止获得曝光，更让鹏飞产业价值被理解、体验与转化。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1952-0167-4BF0-B53D-995425D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35A"/>
                </a:solidFill>
              </a:defRPr>
            </a:pPr>
            <a:r>
              <a:rPr sz="2850" b="1">
                <a:solidFill>
                  <a:srgbClr val="D9F35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D1901-7954-46E9-9F94-4C2DFB22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7821-C051-4578-930B-D587275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氢能主业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5033A-9CCC-4395-8876-4D46773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场景化传播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F6DCB-FC38-4CF9-94E5-1660841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35A"/>
                </a:solidFill>
              </a:defRPr>
            </a:pPr>
            <a:r>
              <a:rPr sz="2850" b="1">
                <a:solidFill>
                  <a:srgbClr val="D9F35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34329-8CEC-494C-810A-7BB2AFF7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E30DA-50DC-432E-8EF7-6DE801A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文旅资源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43CE6-396E-47F8-86CD-83AFCDE3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持续引流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DB301-9B36-4FCE-8537-AAF1C4C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35A"/>
                </a:solidFill>
              </a:defRPr>
            </a:pPr>
            <a:r>
              <a:rPr sz="2850" b="1">
                <a:solidFill>
                  <a:srgbClr val="D9F35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81F83-7A5C-4EA5-914B-4A9B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F308E-BD96-4C5F-A2B1-B35A9B8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高端酒店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3D454-BFBF-4D01-B43F-2B5B00A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客源转化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A714E-B004-4D29-9D47-032D247E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35A"/>
                </a:solidFill>
              </a:defRPr>
            </a:pPr>
            <a:r>
              <a:rPr sz="2850" b="1">
                <a:solidFill>
                  <a:srgbClr val="D9F35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6A475-98F1-4899-8EF1-89EFB836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5C356-269D-4DFE-926D-2623995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企业责任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2D300-05B8-4D39-9881-1EBC60E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可视化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AF2FE-1F46-4A6D-9DE8-92B5C79C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35A"/>
                </a:solidFill>
              </a:defRPr>
            </a:pPr>
            <a:r>
              <a:rPr sz="2850" b="1">
                <a:solidFill>
                  <a:srgbClr val="D9F35A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DE2F6-99B2-4587-A803-60D2865A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B2F76-40D7-4E90-9571-E9368F25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高端圈层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BEC5B-3E7D-46D8-A5ED-83A6E95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有效链接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7C020-955E-470D-8459-08EFAE1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产业实力被看见  ·  责任担当被感知  ·  消费场景被激活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9C917-3EAB-4CDB-92F2-1E24964D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DEC9"/>
                </a:solidFill>
              </a:defRPr>
            </a:pPr>
            <a:r>
              <a:rPr sz="1125" b="0">
                <a:solidFill>
                  <a:srgbClr val="9DDEC9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774647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E80A1-1C6F-4B82-937C-FB5AB70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02 / 鹏飞合作价值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4D3DC-562E-45C1-B495-80ECEDD3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赛事流量不是终点，而是产业联动的起点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5C658-2F56-4F71-B4CC-0BC717A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04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63de83c849c6"/>
          <a:srcRect xmlns:a="http://schemas.openxmlformats.org/drawingml/2006/main" l="0" t="18116" r="0" b="18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790700"/>
            <a:ext cx="4171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C8EB7-DCE5-4D62-BB2C-D76DBFD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CB332-72DD-4AA7-B824-18D43211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赛事流量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37801-FFF8-40BF-A765-AE7C1E2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聚集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1914-1891-4F8E-8DD9-933808B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0F17E-4D58-4561-9F76-7CBD65C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37732-05F1-4134-843A-443CCC1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品牌认知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D76E1-207A-4F4F-A2E2-4487BB14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沉淀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7C025-18C6-492E-8365-3B918C60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F1C97-ECBE-4D51-8334-B5DCFC4D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B42F4-9747-418B-8AB7-C183A33B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氢能体验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DD20A-F82F-498A-B307-6BCCA81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3C4FD-794A-4F29-86B8-3C7E418D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CC330-BFA4-4A1B-BAD7-CBDAF082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A9A96-544A-431D-A3EE-0E0F04C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文旅酒店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F21D9-D68C-4B29-A0D2-6119828B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转化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69A57-1D50-45A0-8F62-C294134C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849CE-52D2-4401-B456-AA8222A4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D0701-49EB-4272-B581-167D1727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公益声誉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8FA49-02D5-4EF3-BC57-ABDE08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复利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3C3FE-2E48-4660-81B5-393771F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长期回报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4F224-767D-4C9B-8B74-E30F8B61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7358"/>
                </a:solidFill>
              </a:defRPr>
            </a:pPr>
            <a:r>
              <a:rPr sz="2250" b="1">
                <a:solidFill>
                  <a:srgbClr val="0B7358"/>
                </a:solidFill>
              </a:rPr>
              <a:t>从看见鹏飞，到选择鹏飞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8DDE7-DDB0-4C82-8367-BB901A6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347238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D0262-EDC6-4D99-8C65-43B93DE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03 / 赛事体验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8F902-3166-47B6-A52A-4445B2F6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四条体验线，让理念在现场被看见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E3A0F-EB86-4867-91A2-B6D45A79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7ba5dcb4442a2"/>
          <a:srcRect xmlns:a="http://schemas.openxmlformats.org/drawingml/2006/main" l="0" t="26111" r="0" b="26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FBF1C-856F-4B4D-B723-004209D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E62C8-768A-44C3-B9D8-682E6E7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绿色赛道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670DB-F127-4F59-AC1E-1E694B43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低碳补给与清洁能源保障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04436-3FCF-4BF8-BE01-84142A7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B25C3-F6FE-4D7D-AC71-9251B2FC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阳光致敬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71902-D357-4E21-BE57-847A536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写下一个名字，讲述一段感恩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52869-1CAD-4871-999F-6ED14BB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5883E-290A-4803-84BC-1D60FF0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公益捐赠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A3E80-1A4E-4AC7-8A3A-5CFC9BA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报名即参与，结果可公示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CF83C-FE8C-4EE8-82C0-942C8407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844F4-9392-4640-AD83-F54B084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城市文旅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C8583-F55D-493C-AA4F-F2CEC4C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赛事连接景区、酒店与消费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DA438-E2F2-4CED-A53C-FB5977C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15171542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6D7425-76F8-4F53-A61E-88651AE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04 / 独家冠名权益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FF2E8-1330-44C3-9405-6F0C0AD0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六大权益，覆盖赛事全链路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EC3C-FB55-4832-BFD6-8C739D48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82036-2955-4212-9A90-D5502E6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483D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8736E-028F-454A-B7E8-4ECDC09E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24C74-EB04-4632-B060-14692DC6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独家名称权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3D20A-110B-4FBA-AF87-5AD7E876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483D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CC83B-47B8-4AAF-9A07-072B0EC8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BFB54-B82A-4920-A048-CA16B22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全场景视觉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AC664-87B7-42EF-A224-C4306E0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483D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270DF-92DE-469C-9117-C8EC559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8587A-DBA1-46D9-ACE2-57846BE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综合体验区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78576-6C60-4C62-A6B8-64467A2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352E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7CC32-2490-49B3-8705-7223B18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FE967-E592-4B18-BACF-A5F88B8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领导礼遇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2D7AC-FB8A-473D-9448-3D5C587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352E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771F3-23D5-4578-B2DF-C8028293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FF520-CDA0-4390-B5FF-08471A1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全媒体传播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48629-157D-4A28-87D1-40E856E5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766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352E"/>
          </a:solidFill>
          <a:ln xmlns:a="http://schemas.openxmlformats.org/drawingml/2006/main" w="9525">
            <a:solidFill>
              <a:srgbClr val="0B73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A9E2D-CC66-4723-A742-334925D3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F35A"/>
                </a:solidFill>
              </a:defRPr>
            </a:pPr>
            <a:r>
              <a:rPr sz="1950" b="1">
                <a:solidFill>
                  <a:srgbClr val="D9F35A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5CA2F-5916-4EB2-BB3E-EF4E3D3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产业联动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A567D-0837-41F2-9CF1-45DDD37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DEC9"/>
                </a:solidFill>
              </a:defRPr>
            </a:pPr>
            <a:r>
              <a:rPr sz="2250" b="1">
                <a:solidFill>
                  <a:srgbClr val="9DDEC9"/>
                </a:solidFill>
              </a:rPr>
              <a:t>名称绑定 → 现场体验 → 传播扩散 → 产业转化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04E53-D570-4417-A473-B8FB824F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DEC9"/>
                </a:solidFill>
              </a:defRPr>
            </a:pPr>
            <a:r>
              <a:rPr sz="1125" b="0">
                <a:solidFill>
                  <a:srgbClr val="9DDEC9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702558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DB649-37E4-48A2-BB2F-13B69BAC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04 / 独家冠名权益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1FAE3-2DDA-47A0-8410-3418E0D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鹏飞品牌覆盖跑者旅程的每个关键触点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CE50F-ADC1-42EE-A76C-6D2EAA7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95CB3-FAB1-43B8-80E7-861A437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DDC75-1C8F-40A5-A9B4-E9E6E5A1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546FD-5DF0-4643-9B64-60D77C4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赛前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5FA2E-EC1F-446F-BEC8-865F401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赛事全称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官宣与报名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E4EDC-D15B-434F-A279-8B0E4AF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968A8-8323-417A-8321-14E6595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到场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27831-FB67-4217-BCCF-AA9DBEC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主视觉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起终点与道旗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FFAC3-3141-4DB8-BC40-4A13BC7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5B651-8571-4B91-86F6-7DCFC8DE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参赛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EB9D9-45FC-4D1C-A933-26775A9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参赛服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号码布与参赛包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1F2BF-D8A9-40CD-9C95-6E37E4F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DB8EB-2AD9-4313-9890-BEBE8364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完赛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6555F-9ECB-4FFE-9549-0133377B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奖牌证书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颁奖与赛后专题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8BDCF-5FEF-427C-9CBC-9E0DCE44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7358"/>
                </a:solidFill>
              </a:defRPr>
            </a:pPr>
            <a:r>
              <a:rPr sz="2700" b="1">
                <a:solidFill>
                  <a:srgbClr val="0B7358"/>
                </a:solidFill>
              </a:rPr>
              <a:t>从第一次看见，到完赛后二次传播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509C8-FE5D-47BA-A50D-C5C747E9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734336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AED97-2748-416B-8C60-C03DC3D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04 / 独家冠名权益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69C99-878E-4853-A334-F155502F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让鹏飞成为赛事舞台上的核心发起者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365E2-4635-45E9-A1D4-4F32A76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7a5fb96864701"/>
          <a:srcRect xmlns:a="http://schemas.openxmlformats.org/drawingml/2006/main" l="0" t="21803" r="0" b="21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5810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736DD-F17A-4A04-A7C2-6DBF023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FA393-BA9F-455B-A3EF-88F7FC6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开幕式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4B017-22EF-4060-80B1-29CC242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集团领导致辞并鸣枪起跑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75F3E-7332-40EF-A7DB-2624543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23752-2710-48EB-8524-525B836F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8450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颁奖礼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F6859-443F-4F23-B784-E3212F6D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为获奖选手颁奖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1FA32-6691-4027-9D02-715E2D20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8D02A-324C-426B-B5A1-D622BC2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媒体场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1F994-C3B7-4F54-A40C-F683B9C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重点口播、采访与专属接待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84CE8-29DD-4905-8DD6-818AB99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363D7-DEFD-47FE-A72A-53A1CA2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公益场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8FCF7-5A61-4263-BBF0-3CB9B42B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捐赠仪式与成果发布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80DF2-65E2-4FF7-ADCC-54BEE43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1880212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2F33E-1026-4B5D-A5C4-FDB671E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05 / AI 文创展示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8D6AC-9F23-42E3-ACA6-EC54BF2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一套视觉资产，快速覆盖赛事传播全场景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EE7E7-D0C4-45F8-9631-F6A52E3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DDEC9"/>
                </a:solidFill>
              </a:defRPr>
            </a:pPr>
            <a:r>
              <a:rPr sz="1350" b="1">
                <a:solidFill>
                  <a:srgbClr val="9DDEC9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053D8-E3EE-4138-9681-2EFBB2B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57450" cy="35814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ffa801f14d71"/>
          <a:stretch xmlns:a="http://schemas.openxmlformats.org/drawingml/2006/main"/>
        </p:blipFill>
        <p:spPr>
          <a:xfrm xmlns:a="http://schemas.openxmlformats.org/drawingml/2006/main">
            <a:off x="930531" y="1866900"/>
            <a:ext cx="1967989" cy="27813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ACFB-8AF0-41AA-91B5-7BAC611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1F"/>
                </a:solidFill>
              </a:defRPr>
            </a:pPr>
            <a:r>
              <a:rPr sz="1950" b="1">
                <a:solidFill>
                  <a:srgbClr val="10231F"/>
                </a:solidFill>
              </a:rPr>
              <a:t>主视觉海报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1EDC5-564A-4D84-B4AD-E81085E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52600"/>
            <a:ext cx="2457450" cy="35814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5727032634e7b"/>
          <a:stretch xmlns:a="http://schemas.openxmlformats.org/drawingml/2006/main"/>
        </p:blipFill>
        <p:spPr>
          <a:xfrm xmlns:a="http://schemas.openxmlformats.org/drawingml/2006/main">
            <a:off x="3524250" y="2469006"/>
            <a:ext cx="2228850" cy="157708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3A089-69EB-4713-A320-EF7B400E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1F"/>
                </a:solidFill>
              </a:defRPr>
            </a:pPr>
            <a:r>
              <a:rPr sz="1950" b="1">
                <a:solidFill>
                  <a:srgbClr val="10231F"/>
                </a:solidFill>
              </a:rPr>
              <a:t>赛事 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39BA2-D92E-4F6F-9359-6ADF09D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2457450" cy="35814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2d9f5dbd64c41"/>
          <a:stretch xmlns:a="http://schemas.openxmlformats.org/drawingml/2006/main"/>
        </p:blipFill>
        <p:spPr>
          <a:xfrm xmlns:a="http://schemas.openxmlformats.org/drawingml/2006/main">
            <a:off x="6248400" y="2421731"/>
            <a:ext cx="2228850" cy="167163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B947C-C19F-4801-9CBF-FE871BF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1F"/>
                </a:solidFill>
              </a:defRPr>
            </a:pPr>
            <a:r>
              <a:rPr sz="1950" b="1">
                <a:solidFill>
                  <a:srgbClr val="10231F"/>
                </a:solidFill>
              </a:rPr>
              <a:t>完赛奖牌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2822F-A371-489F-B727-71CB172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457450" cy="35814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70f14a55d46fd"/>
          <a:stretch xmlns:a="http://schemas.openxmlformats.org/drawingml/2006/main"/>
        </p:blipFill>
        <p:spPr>
          <a:xfrm xmlns:a="http://schemas.openxmlformats.org/drawingml/2006/main">
            <a:off x="8972550" y="2421731"/>
            <a:ext cx="2228850" cy="167163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EDB11-A672-40DC-BEE8-75F20D39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1F"/>
                </a:solidFill>
              </a:defRPr>
            </a:pPr>
            <a:r>
              <a:rPr sz="1950" b="1">
                <a:solidFill>
                  <a:srgbClr val="10231F"/>
                </a:solidFill>
              </a:rPr>
              <a:t>参赛服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2BCF4-8F92-4F35-8FFB-BFD365E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DEC9"/>
                </a:solidFill>
              </a:defRPr>
            </a:pPr>
            <a:r>
              <a:rPr sz="2250" b="1">
                <a:solidFill>
                  <a:srgbClr val="9DDEC9"/>
                </a:solidFill>
              </a:rPr>
              <a:t>统一主题  ·  快速迭代  ·  多渠道复用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4A032-5C75-4820-86AA-7A3A6FE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DEC9"/>
                </a:solidFill>
              </a:defRPr>
            </a:pPr>
            <a:r>
              <a:rPr sz="1125" b="0">
                <a:solidFill>
                  <a:srgbClr val="9DDEC9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20825288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C207A-DBBC-464E-AE43-622C0BF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06 / 传播合作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1E63A-DF4C-4FED-A4C2-79C85AF3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赛前蓄势、赛中引爆、赛后沉淀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C67C6-D970-4AFD-95D5-74AE079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51AEB-3047-43F1-81E8-609588B1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5D985-7A3C-4DC1-89E0-7CBC1FF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7358"/>
                </a:solidFill>
              </a:defRPr>
            </a:pPr>
            <a:r>
              <a:rPr sz="3300" b="1">
                <a:solidFill>
                  <a:srgbClr val="0B735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C224B-105C-45F1-B3D9-8A568312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赛前蓄势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6FFF-6DE9-4E7F-9901-961DFC6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冠名官宣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报名启动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阳光故事征集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0D121-A3AC-4D46-BA0F-7969CCE7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14B80-24E3-43C6-BE76-9B82942A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F35A"/>
                </a:solidFill>
              </a:defRPr>
            </a:pPr>
            <a:r>
              <a:rPr sz="3300" b="1">
                <a:solidFill>
                  <a:srgbClr val="D9F35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C4968-AFED-40A6-AA86-56E3CB33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赛中引爆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6C4EC-989D-4394-AA49-5770AD48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赛事直播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短视频共创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媒体采访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AC1DE-EEBF-47F2-96B4-6D9CC368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6690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2E9B6-A5D3-4390-A4AF-B90EC2BC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7358"/>
                </a:solidFill>
              </a:defRPr>
            </a:pPr>
            <a:r>
              <a:rPr sz="3300" b="1">
                <a:solidFill>
                  <a:srgbClr val="0B735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C6A61-DA50-49C4-8FB2-EBC71DB9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1F"/>
                </a:solidFill>
              </a:defRPr>
            </a:pPr>
            <a:r>
              <a:rPr sz="2400" b="1">
                <a:solidFill>
                  <a:srgbClr val="10231F"/>
                </a:solidFill>
              </a:rPr>
              <a:t>赛后沉淀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DDCC8-67F3-45F5-AE1D-4C58262A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成绩发布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捐赠公示</a:t>
            </a:r>
          </a:p>
          <a:p xmlns:a="http://schemas.openxmlformats.org/drawingml/2006/main">
            <a:pPr algn="l">
              <a:defRPr sz="1950" b="0">
                <a:solidFill>
                  <a:srgbClr val="5E6D68"/>
                </a:solidFill>
              </a:defRPr>
            </a:pPr>
            <a:r>
              <a:rPr sz="1950" b="0">
                <a:solidFill>
                  <a:srgbClr val="5E6D68"/>
                </a:solidFill>
              </a:rPr>
              <a:t>品牌纪录片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67CBF-65D8-45E1-989D-9C04167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166186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1D66D-ACB5-4D3A-AF16-6EE5A0E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07 / 合作建议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628DB-6E75-40C5-A4B5-851D03B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</a:defRPr>
            </a:pPr>
            <a:r>
              <a:rPr sz="3600" b="1">
                <a:solidFill>
                  <a:srgbClr val="10231F"/>
                </a:solidFill>
              </a:rPr>
              <a:t>合作方式可组合，核心权益保持清晰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87E60-8F5E-4246-B366-E67B515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7358"/>
                </a:solidFill>
              </a:defRPr>
            </a:pPr>
            <a:r>
              <a:rPr sz="1350" b="1">
                <a:solidFill>
                  <a:srgbClr val="0B735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8680-5CD4-4995-89D4-E783B757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1023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1F7A2-E4B7-4CEE-9608-5F7FD8E5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35A"/>
                </a:solidFill>
              </a:defRPr>
            </a:pPr>
            <a:r>
              <a:rPr sz="1800" b="1">
                <a:solidFill>
                  <a:srgbClr val="D9F35A"/>
                </a:solidFill>
              </a:rPr>
              <a:t>首选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8F9B3-A4C6-4CCB-A50C-C6F5D6E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0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独家现金总冠名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478F4-8B6D-4571-91A5-DC894EF3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完整总冠名</a:t>
            </a:r>
          </a:p>
          <a:p xmlns:a="http://schemas.openxmlformats.org/drawingml/2006/main">
            <a:pPr algn="l">
              <a:defRPr sz="1800" b="0">
                <a:solidFill>
                  <a:srgbClr val="9DDEC9"/>
                </a:solidFill>
              </a:defRPr>
            </a:pPr>
            <a:r>
              <a:rPr sz="1800" b="0">
                <a:solidFill>
                  <a:srgbClr val="9DDEC9"/>
                </a:solidFill>
              </a:rPr>
              <a:t>＋产业联动权益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FF4F6-2AED-4BD6-90E0-43DDB2D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96404-A23D-4DCC-B71E-B86994DF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灵活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3F1D5-1A72-4E4A-B79B-D5293066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70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现金＋资源置换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788CA-AAA0-4B45-ABDB-7DE0099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现金投入</a:t>
            </a:r>
          </a:p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＋门票／房券资源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41C6F-BD78-4613-9C47-4CA82F1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66900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181BF-C5DF-44EE-B222-03882B20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358"/>
                </a:solidFill>
              </a:defRPr>
            </a:pPr>
            <a:r>
              <a:rPr sz="1800" b="1">
                <a:solidFill>
                  <a:srgbClr val="0B7358"/>
                </a:solidFill>
              </a:rPr>
              <a:t>长期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A165E-92EC-4B19-832B-8CC5B002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0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年度战略合作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2FC87-5237-4E52-9484-018CF8D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延展徒步、商会</a:t>
            </a:r>
          </a:p>
          <a:p xmlns:a="http://schemas.openxmlformats.org/drawingml/2006/main">
            <a:pPr algn="l">
              <a:defRPr sz="1800" b="0">
                <a:solidFill>
                  <a:srgbClr val="5E6D68"/>
                </a:solidFill>
              </a:defRPr>
            </a:pPr>
            <a:r>
              <a:rPr sz="1800" b="0">
                <a:solidFill>
                  <a:srgbClr val="5E6D68"/>
                </a:solidFill>
              </a:rPr>
              <a:t>与系列公益活动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CB6E2-802F-49E0-AAA5-B9D96D2D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1898C-4050-4DD6-87FD-67E26551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下一步：确认赛事基础信息、合作投入与鹏飞品牌资产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77C84-1D93-4201-BBB7-1881505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68"/>
                </a:solidFill>
              </a:defRPr>
            </a:pPr>
            <a:r>
              <a:rPr sz="1125" b="0">
                <a:solidFill>
                  <a:srgbClr val="5E6D68"/>
                </a:solidFill>
              </a:rPr>
              <a:t>PENGFEI GROUP CUP · HYDROGEN BUILDS A NEW JOURNEY</a:t>
            </a:r>
          </a:p>
        </p:txBody>
      </p:sp>
    </p:spTree>
    <p:extLst>
      <p:ext uri="{BB962C8B-B14F-4D97-AF65-F5344CB8AC3E}">
        <p14:creationId xmlns:p14="http://schemas.microsoft.com/office/powerpoint/2010/main" val="1474390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2344ccd044a0f"/>
          <a:srcRect xmlns:a="http://schemas.openxmlformats.org/drawingml/2006/main" l="29683" t="0" r="29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0D4C3-BFBA-41D7-B140-F38E447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F1D74-701C-49DD-A4C3-2EBBC4E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F35A"/>
                </a:solidFill>
              </a:defRPr>
            </a:pPr>
            <a:r>
              <a:rPr sz="2250" b="1">
                <a:solidFill>
                  <a:srgbClr val="D9F35A"/>
                </a:solidFill>
              </a:rPr>
              <a:t>携手鹏飞集团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FBC0D-2D45-4D06-81C9-489D5D6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以氢筑新程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以爱抵达远方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CDD7E-48D7-40FD-A31E-11AC81B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DEC9"/>
                </a:solidFill>
              </a:defRPr>
            </a:pPr>
            <a:r>
              <a:rPr sz="2250" b="1">
                <a:solidFill>
                  <a:srgbClr val="9DDEC9"/>
                </a:solidFill>
              </a:rPr>
              <a:t>绿色产业被看见</a:t>
            </a:r>
          </a:p>
          <a:p xmlns:a="http://schemas.openxmlformats.org/drawingml/2006/main">
            <a:pPr algn="l">
              <a:defRPr sz="2250" b="1">
                <a:solidFill>
                  <a:srgbClr val="9DDEC9"/>
                </a:solidFill>
              </a:defRPr>
            </a:pPr>
            <a:r>
              <a:rPr sz="2250" b="1">
                <a:solidFill>
                  <a:srgbClr val="9DDEC9"/>
                </a:solidFill>
              </a:rPr>
              <a:t>企业担当被感知</a:t>
            </a:r>
          </a:p>
          <a:p xmlns:a="http://schemas.openxmlformats.org/drawingml/2006/main">
            <a:pPr algn="l">
              <a:defRPr sz="2250" b="1">
                <a:solidFill>
                  <a:srgbClr val="9DDEC9"/>
                </a:solidFill>
              </a:defRPr>
            </a:pPr>
            <a:r>
              <a:rPr sz="2250" b="1">
                <a:solidFill>
                  <a:srgbClr val="9DDEC9"/>
                </a:solidFill>
              </a:rPr>
              <a:t>赛事流量被转化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431D5-A887-4FA5-A048-B55C1609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AAB54-1141-4CF9-B56D-D079442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共同打造一场有影响力、有温度、有回报的标杆赛事</a:t>
            </a:r>
          </a:p>
        </p:txBody>
      </p:sp>
    </p:spTree>
    <p:extLst>
      <p:ext uri="{BB962C8B-B14F-4D97-AF65-F5344CB8AC3E}">
        <p14:creationId xmlns:p14="http://schemas.microsoft.com/office/powerpoint/2010/main" val="1312924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2026-07-14T04:15:02.7400000Z</dcterms:created>
  <dcterms:modified xsi:type="dcterms:W3CDTF">2026-07-14T04:15:02.7400000Z</dcterms:modified>
</coreProperties>
</file>