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62f75b59754fe9" /><Relationship Type="http://schemas.openxmlformats.org/officeDocument/2006/relationships/extended-properties" Target="/docProps/app.xml" Id="R9c4f2982106b4581" /><Relationship Type="http://schemas.openxmlformats.org/officeDocument/2006/relationships/officeDocument" Target="/ppt/presentation.xml" Id="Rd1b54dba9fa845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84de385117454b"/>
  </p:sldMasterIdLst>
  <p:notesMasterIdLst>
    <p:notesMasterId xmlns:r="http://schemas.openxmlformats.org/officeDocument/2006/relationships" r:id="R602f0790fbfc4020"/>
  </p:notesMasterIdLst>
  <p:sldIdLst>
    <p:sldId xmlns:r="http://schemas.openxmlformats.org/officeDocument/2006/relationships" id="256" r:id="R6b0d646f18304b9f"/>
    <p:sldId xmlns:r="http://schemas.openxmlformats.org/officeDocument/2006/relationships" id="257" r:id="R242cb6c2fba44eec"/>
    <p:sldId xmlns:r="http://schemas.openxmlformats.org/officeDocument/2006/relationships" id="258" r:id="R3ab594ae31c048de"/>
    <p:sldId xmlns:r="http://schemas.openxmlformats.org/officeDocument/2006/relationships" id="259" r:id="Ref28266bb3c84592"/>
    <p:sldId xmlns:r="http://schemas.openxmlformats.org/officeDocument/2006/relationships" id="260" r:id="R59d66aaa1b044023"/>
    <p:sldId xmlns:r="http://schemas.openxmlformats.org/officeDocument/2006/relationships" id="261" r:id="R6d907af54cd84b1d"/>
    <p:sldId xmlns:r="http://schemas.openxmlformats.org/officeDocument/2006/relationships" id="262" r:id="Rfadf7f78e2484e06"/>
    <p:sldId xmlns:r="http://schemas.openxmlformats.org/officeDocument/2006/relationships" id="263" r:id="Ref8bbd51cc87403b"/>
    <p:sldId xmlns:r="http://schemas.openxmlformats.org/officeDocument/2006/relationships" id="264" r:id="Rc3ca6864ba734a03"/>
    <p:sldId xmlns:r="http://schemas.openxmlformats.org/officeDocument/2006/relationships" id="265" r:id="Rb43de11b0b424742"/>
    <p:sldId xmlns:r="http://schemas.openxmlformats.org/officeDocument/2006/relationships" id="266" r:id="Reb0b2c06e42744be"/>
    <p:sldId xmlns:r="http://schemas.openxmlformats.org/officeDocument/2006/relationships" id="267" r:id="Rffa9f34c85424c68"/>
    <p:sldId xmlns:r="http://schemas.openxmlformats.org/officeDocument/2006/relationships" id="268" r:id="R43d571883aa640ae"/>
    <p:sldId xmlns:r="http://schemas.openxmlformats.org/officeDocument/2006/relationships" id="269" r:id="R5fb6dd0e2fe94a1d"/>
    <p:sldId xmlns:r="http://schemas.openxmlformats.org/officeDocument/2006/relationships" id="270" r:id="R66a21b611f6f49ce"/>
    <p:sldId xmlns:r="http://schemas.openxmlformats.org/officeDocument/2006/relationships" id="271" r:id="R4ecb21a7a46e42d8"/>
    <p:sldId xmlns:r="http://schemas.openxmlformats.org/officeDocument/2006/relationships" id="272" r:id="Rbcd17775b3104038"/>
    <p:sldId xmlns:r="http://schemas.openxmlformats.org/officeDocument/2006/relationships" id="273" r:id="R957ca3a7d018482f"/>
    <p:sldId xmlns:r="http://schemas.openxmlformats.org/officeDocument/2006/relationships" id="274" r:id="Rb6d45384bc3d4556"/>
    <p:sldId xmlns:r="http://schemas.openxmlformats.org/officeDocument/2006/relationships" id="275" r:id="R8a9c49e9fdfc48c0"/>
    <p:sldId xmlns:r="http://schemas.openxmlformats.org/officeDocument/2006/relationships" id="276" r:id="Ra293f7e1fdec424e"/>
    <p:sldId xmlns:r="http://schemas.openxmlformats.org/officeDocument/2006/relationships" id="277" r:id="Rf7fda926bcb147f8"/>
    <p:sldId xmlns:r="http://schemas.openxmlformats.org/officeDocument/2006/relationships" id="278" r:id="R9af84a8bab6a4b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b6dd6d223a4032" /><Relationship Type="http://schemas.openxmlformats.org/officeDocument/2006/relationships/slideMaster" Target="/ppt/slideMasters/slideMaster1.xml" Id="R0984de385117454b" /><Relationship Type="http://schemas.openxmlformats.org/officeDocument/2006/relationships/notesMaster" Target="/ppt/notesMasters/notesMaster1.xml" Id="R602f0790fbfc4020" /><Relationship Type="http://schemas.openxmlformats.org/officeDocument/2006/relationships/presProps" Target="/ppt/presProps.xml" Id="R9b033121131d415d" /><Relationship Type="http://schemas.openxmlformats.org/officeDocument/2006/relationships/tableStyles" Target="/ppt/tableStyles.xml" Id="R6dfd54a055b34f94" /><Relationship Type="http://schemas.openxmlformats.org/officeDocument/2006/relationships/slide" Target="/ppt/slides/slide1.xml" Id="R6b0d646f18304b9f" /><Relationship Type="http://schemas.openxmlformats.org/officeDocument/2006/relationships/slide" Target="/ppt/slides/slide2.xml" Id="R242cb6c2fba44eec" /><Relationship Type="http://schemas.openxmlformats.org/officeDocument/2006/relationships/slide" Target="/ppt/slides/slide3.xml" Id="R3ab594ae31c048de" /><Relationship Type="http://schemas.openxmlformats.org/officeDocument/2006/relationships/slide" Target="/ppt/slides/slide4.xml" Id="Ref28266bb3c84592" /><Relationship Type="http://schemas.openxmlformats.org/officeDocument/2006/relationships/slide" Target="/ppt/slides/slide5.xml" Id="R59d66aaa1b044023" /><Relationship Type="http://schemas.openxmlformats.org/officeDocument/2006/relationships/slide" Target="/ppt/slides/slide6.xml" Id="R6d907af54cd84b1d" /><Relationship Type="http://schemas.openxmlformats.org/officeDocument/2006/relationships/slide" Target="/ppt/slides/slide7.xml" Id="Rfadf7f78e2484e06" /><Relationship Type="http://schemas.openxmlformats.org/officeDocument/2006/relationships/slide" Target="/ppt/slides/slide8.xml" Id="Ref8bbd51cc87403b" /><Relationship Type="http://schemas.openxmlformats.org/officeDocument/2006/relationships/slide" Target="/ppt/slides/slide9.xml" Id="Rc3ca6864ba734a03" /><Relationship Type="http://schemas.openxmlformats.org/officeDocument/2006/relationships/slide" Target="/ppt/slides/slide10.xml" Id="Rb43de11b0b424742" /><Relationship Type="http://schemas.openxmlformats.org/officeDocument/2006/relationships/slide" Target="/ppt/slides/slide11.xml" Id="Reb0b2c06e42744be" /><Relationship Type="http://schemas.openxmlformats.org/officeDocument/2006/relationships/slide" Target="/ppt/slides/slide12.xml" Id="Rffa9f34c85424c68" /><Relationship Type="http://schemas.openxmlformats.org/officeDocument/2006/relationships/slide" Target="/ppt/slides/slide13.xml" Id="R43d571883aa640ae" /><Relationship Type="http://schemas.openxmlformats.org/officeDocument/2006/relationships/slide" Target="/ppt/slides/slide14.xml" Id="R5fb6dd0e2fe94a1d" /><Relationship Type="http://schemas.openxmlformats.org/officeDocument/2006/relationships/slide" Target="/ppt/slides/slide15.xml" Id="R66a21b611f6f49ce" /><Relationship Type="http://schemas.openxmlformats.org/officeDocument/2006/relationships/slide" Target="/ppt/slides/slide16.xml" Id="R4ecb21a7a46e42d8" /><Relationship Type="http://schemas.openxmlformats.org/officeDocument/2006/relationships/slide" Target="/ppt/slides/slide17.xml" Id="Rbcd17775b3104038" /><Relationship Type="http://schemas.openxmlformats.org/officeDocument/2006/relationships/slide" Target="/ppt/slides/slide18.xml" Id="R957ca3a7d018482f" /><Relationship Type="http://schemas.openxmlformats.org/officeDocument/2006/relationships/slide" Target="/ppt/slides/slide19.xml" Id="Rb6d45384bc3d4556" /><Relationship Type="http://schemas.openxmlformats.org/officeDocument/2006/relationships/slide" Target="/ppt/slides/slide20.xml" Id="R8a9c49e9fdfc48c0" /><Relationship Type="http://schemas.openxmlformats.org/officeDocument/2006/relationships/slide" Target="/ppt/slides/slide21.xml" Id="Ra293f7e1fdec424e" /><Relationship Type="http://schemas.openxmlformats.org/officeDocument/2006/relationships/slide" Target="/ppt/slides/slide22.xml" Id="Rf7fda926bcb147f8" /><Relationship Type="http://schemas.openxmlformats.org/officeDocument/2006/relationships/slide" Target="/ppt/slides/slide23.xml" Id="R9af84a8bab6a4b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7d50d234164b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59fd97a80b4be0" /><Relationship Type="http://schemas.openxmlformats.org/officeDocument/2006/relationships/notesMaster" Target="/ppt/notesMasters/notesMaster1.xml" Id="Rad49a914578a4d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d4b6b5b67746fc" /><Relationship Type="http://schemas.openxmlformats.org/officeDocument/2006/relationships/notesMaster" Target="/ppt/notesMasters/notesMaster1.xml" Id="R8d438c92382842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eeed9771d24743" /><Relationship Type="http://schemas.openxmlformats.org/officeDocument/2006/relationships/notesMaster" Target="/ppt/notesMasters/notesMaster1.xml" Id="Rb998ff40554f4c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6d1da24e674d35" /><Relationship Type="http://schemas.openxmlformats.org/officeDocument/2006/relationships/notesMaster" Target="/ppt/notesMasters/notesMaster1.xml" Id="R1ba7a153b4924b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59bb2c5c2e4cf3" /><Relationship Type="http://schemas.openxmlformats.org/officeDocument/2006/relationships/notesMaster" Target="/ppt/notesMasters/notesMaster1.xml" Id="R77abfbee467647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2fdefcbdae4c8c" /><Relationship Type="http://schemas.openxmlformats.org/officeDocument/2006/relationships/notesMaster" Target="/ppt/notesMasters/notesMaster1.xml" Id="Rfb74df1bd28a40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e99ff0b02146bf" /><Relationship Type="http://schemas.openxmlformats.org/officeDocument/2006/relationships/notesMaster" Target="/ppt/notesMasters/notesMaster1.xml" Id="R04cf9229d91b4e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0b8de47f584d86" /><Relationship Type="http://schemas.openxmlformats.org/officeDocument/2006/relationships/notesMaster" Target="/ppt/notesMasters/notesMaster1.xml" Id="R170cd39b807743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a8b49c27a643fc" /><Relationship Type="http://schemas.openxmlformats.org/officeDocument/2006/relationships/notesMaster" Target="/ppt/notesMasters/notesMaster1.xml" Id="Re15bdc5bab774e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4a928db09241f5" /><Relationship Type="http://schemas.openxmlformats.org/officeDocument/2006/relationships/notesMaster" Target="/ppt/notesMasters/notesMaster1.xml" Id="Rdba154afdab94d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1e8627b5d2454c" /><Relationship Type="http://schemas.openxmlformats.org/officeDocument/2006/relationships/notesMaster" Target="/ppt/notesMasters/notesMaster1.xml" Id="R6518ce2257794f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ef5eea57b340df" /><Relationship Type="http://schemas.openxmlformats.org/officeDocument/2006/relationships/notesMaster" Target="/ppt/notesMasters/notesMaster1.xml" Id="R51f93c9806f743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68a5b0edb149ee" /><Relationship Type="http://schemas.openxmlformats.org/officeDocument/2006/relationships/notesMaster" Target="/ppt/notesMasters/notesMaster1.xml" Id="R0381f8f1ed95447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5528ac38784951" /><Relationship Type="http://schemas.openxmlformats.org/officeDocument/2006/relationships/notesMaster" Target="/ppt/notesMasters/notesMaster1.xml" Id="Rd1a9e57f16a04d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99813550cf4891" /><Relationship Type="http://schemas.openxmlformats.org/officeDocument/2006/relationships/notesMaster" Target="/ppt/notesMasters/notesMaster1.xml" Id="Re76353ced3cc434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b9a888f0d7e4f59" /><Relationship Type="http://schemas.openxmlformats.org/officeDocument/2006/relationships/notesMaster" Target="/ppt/notesMasters/notesMaster1.xml" Id="Ra8c4245888c1457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2a834b0460c44a8" /><Relationship Type="http://schemas.openxmlformats.org/officeDocument/2006/relationships/notesMaster" Target="/ppt/notesMasters/notesMaster1.xml" Id="R85155a073064439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c187b2ed3b541ec" /><Relationship Type="http://schemas.openxmlformats.org/officeDocument/2006/relationships/notesMaster" Target="/ppt/notesMasters/notesMaster1.xml" Id="Rb19b707c7e4e49c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833a84d901d43ef" /><Relationship Type="http://schemas.openxmlformats.org/officeDocument/2006/relationships/notesMaster" Target="/ppt/notesMasters/notesMaster1.xml" Id="R21cc17d85c4c450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9927269b3a84779" /><Relationship Type="http://schemas.openxmlformats.org/officeDocument/2006/relationships/notesMaster" Target="/ppt/notesMasters/notesMaster1.xml" Id="Ra0bf901f9c6b454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4eef0d97bc342ca" /><Relationship Type="http://schemas.openxmlformats.org/officeDocument/2006/relationships/notesMaster" Target="/ppt/notesMasters/notesMaster1.xml" Id="R35a916bb64e1400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d9491b220784b82" /><Relationship Type="http://schemas.openxmlformats.org/officeDocument/2006/relationships/notesMaster" Target="/ppt/notesMasters/notesMaster1.xml" Id="Rceda80afeb63480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081690f95d34ca4" /><Relationship Type="http://schemas.openxmlformats.org/officeDocument/2006/relationships/notesMaster" Target="/ppt/notesMasters/notesMaster1.xml" Id="R6e4a6b2e22d441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c6b58a090b47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47636300b448d6" /><Relationship Type="http://schemas.openxmlformats.org/officeDocument/2006/relationships/slideLayout" Target="/ppt/slideLayouts/slideLayout1.xml" Id="Rbd859e5982244f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859e5982244f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7b6365f034155" /><Relationship Type="http://schemas.openxmlformats.org/officeDocument/2006/relationships/notesSlide" Target="/ppt/notesSlides/notesSlide1.xml" Id="R35f9b7c76aaa47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21e89487b4036" /><Relationship Type="http://schemas.openxmlformats.org/officeDocument/2006/relationships/notesSlide" Target="/ppt/notesSlides/notesSlide2.xml" Id="R71ae4141217643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c8caf998347c6" /><Relationship Type="http://schemas.openxmlformats.org/officeDocument/2006/relationships/notesSlide" Target="/ppt/notesSlides/notesSlide3.xml" Id="Rb6701d4fb5b149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f0fa3129c42cc" /><Relationship Type="http://schemas.openxmlformats.org/officeDocument/2006/relationships/notesSlide" Target="/ppt/notesSlides/notesSlide4.xml" Id="R06d42cea527f4a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023d79fbc4419" /><Relationship Type="http://schemas.openxmlformats.org/officeDocument/2006/relationships/notesSlide" Target="/ppt/notesSlides/notesSlide5.xml" Id="Re29af66ea05645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ff61e477140d0" /><Relationship Type="http://schemas.openxmlformats.org/officeDocument/2006/relationships/notesSlide" Target="/ppt/notesSlides/notesSlide6.xml" Id="R14b33b971d8f48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4f3baf2944f3f" /><Relationship Type="http://schemas.openxmlformats.org/officeDocument/2006/relationships/notesSlide" Target="/ppt/notesSlides/notesSlide7.xml" Id="Rf300e28ec06347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d416f3a0d4394" /><Relationship Type="http://schemas.openxmlformats.org/officeDocument/2006/relationships/notesSlide" Target="/ppt/notesSlides/notesSlide8.xml" Id="R2dcf4855df7a46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114d00f3d47a8" /><Relationship Type="http://schemas.openxmlformats.org/officeDocument/2006/relationships/notesSlide" Target="/ppt/notesSlides/notesSlide9.xml" Id="R90b9319ce0f045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e8c7fd2d74b18" /><Relationship Type="http://schemas.openxmlformats.org/officeDocument/2006/relationships/notesSlide" Target="/ppt/notesSlides/notesSlide10.xml" Id="Rf349e318ded845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19950b1af4615" /><Relationship Type="http://schemas.openxmlformats.org/officeDocument/2006/relationships/notesSlide" Target="/ppt/notesSlides/notesSlide11.xml" Id="R3788bde6d26043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ebaaa26394f6a" /><Relationship Type="http://schemas.openxmlformats.org/officeDocument/2006/relationships/notesSlide" Target="/ppt/notesSlides/notesSlide12.xml" Id="R6b598ab85fc046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39b04e4e24093" /><Relationship Type="http://schemas.openxmlformats.org/officeDocument/2006/relationships/notesSlide" Target="/ppt/notesSlides/notesSlide13.xml" Id="R3a8146d3ef454f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7821b393048dc" /><Relationship Type="http://schemas.openxmlformats.org/officeDocument/2006/relationships/notesSlide" Target="/ppt/notesSlides/notesSlide14.xml" Id="R1298ea81e61648f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cdc2a5e684049" /><Relationship Type="http://schemas.openxmlformats.org/officeDocument/2006/relationships/notesSlide" Target="/ppt/notesSlides/notesSlide15.xml" Id="R030b2983df94412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bc947210e4597" /><Relationship Type="http://schemas.openxmlformats.org/officeDocument/2006/relationships/notesSlide" Target="/ppt/notesSlides/notesSlide16.xml" Id="Rd46df6dd745b4fa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1bf4c45ba4e88" /><Relationship Type="http://schemas.openxmlformats.org/officeDocument/2006/relationships/notesSlide" Target="/ppt/notesSlides/notesSlide17.xml" Id="R45269a2db2544f5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d6c7841f34524" /><Relationship Type="http://schemas.openxmlformats.org/officeDocument/2006/relationships/notesSlide" Target="/ppt/notesSlides/notesSlide18.xml" Id="Rbf0fee205d23404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8e7eda4644d86" /><Relationship Type="http://schemas.openxmlformats.org/officeDocument/2006/relationships/notesSlide" Target="/ppt/notesSlides/notesSlide19.xml" Id="Ra6c58e60ed34407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f869587854049" /><Relationship Type="http://schemas.openxmlformats.org/officeDocument/2006/relationships/notesSlide" Target="/ppt/notesSlides/notesSlide20.xml" Id="R3edec7e1729049d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587ded4fd4727" /><Relationship Type="http://schemas.openxmlformats.org/officeDocument/2006/relationships/notesSlide" Target="/ppt/notesSlides/notesSlide21.xml" Id="Re08481acbde34d6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fa9d26b3c4229" /><Relationship Type="http://schemas.openxmlformats.org/officeDocument/2006/relationships/notesSlide" Target="/ppt/notesSlides/notesSlide22.xml" Id="R136abbeece50482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50b9830ed4533" /><Relationship Type="http://schemas.openxmlformats.org/officeDocument/2006/relationships/notesSlide" Target="/ppt/notesSlides/notesSlide23.xml" Id="Rd8aa8ab289d646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F4E43474-A1F1-4848-823A-5AA07089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0EDB0D37-33B7-42C6-89E2-C995FC09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B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AB16C92F-95DC-46B3-9695-363E82DC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85800"/>
            <a:ext cx="2000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857C4E61-245B-4022-8226-5E820BED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14425"/>
            <a:ext cx="114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DC8B1B37-E0DD-474A-8D4E-C72E4574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00175"/>
            <a:ext cx="571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DB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65475B4C-07D3-4E50-A3A5-48C4BC29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647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7E36B"/>
                </a:solidFill>
              </a:defRPr>
            </a:pPr>
            <a:r>
              <a:rPr sz="2100" b="1">
                <a:solidFill>
                  <a:srgbClr val="B7E36B"/>
                </a:solidFill>
              </a:rPr>
              <a:t>鹏飞集团杯</a:t>
            </a:r>
          </a:p>
        </p:txBody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AF5EE70-351B-42E2-9030-1F113405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氢筑新程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马拉松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F6824BFC-E99B-475A-B99F-1956C26A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gline">
            <a:extLst xmlns:a="http://schemas.openxmlformats.org/drawingml/2006/main">
              <a:ext uri="{FF2B5EF4-FFF2-40B4-BE49-F238E27FC236}">
                <a16:creationId xmlns:a16="http://schemas.microsoft.com/office/drawing/2014/main" id="{8765AA08-EFE5-48F3-998F-D236B325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氢筑新程，为爱奔跑</a:t>
            </a:r>
          </a:p>
        </p:txBody>
      </p:sp>
      <p:sp>
        <p:nvSpPr>
          <p:cNvPr id="10" name="theme">
            <a:extLst xmlns:a="http://schemas.openxmlformats.org/drawingml/2006/main">
              <a:ext uri="{FF2B5EF4-FFF2-40B4-BE49-F238E27FC236}">
                <a16:creationId xmlns:a16="http://schemas.microsoft.com/office/drawing/2014/main" id="{3C251423-4EFA-4AB9-AC0C-434E0E01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7CED4"/>
                </a:solidFill>
              </a:defRPr>
            </a:pPr>
            <a:r>
              <a:rPr sz="1650" b="0">
                <a:solidFill>
                  <a:srgbClr val="B7CED4"/>
                </a:solidFill>
              </a:rPr>
              <a:t>为带给你阳光的人奔跑</a:t>
            </a:r>
          </a:p>
        </p:txBody>
      </p:sp>
      <p:sp>
        <p:nvSpPr>
          <p:cNvPr id="11" name="proposal">
            <a:extLst xmlns:a="http://schemas.openxmlformats.org/drawingml/2006/main">
              <a:ext uri="{FF2B5EF4-FFF2-40B4-BE49-F238E27FC236}">
                <a16:creationId xmlns:a16="http://schemas.microsoft.com/office/drawing/2014/main" id="{BA4050F7-82DD-4182-A188-DF079F67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DBB4A"/>
                </a:solidFill>
              </a:defRPr>
            </a:pPr>
            <a:r>
              <a:rPr sz="1350" b="1">
                <a:solidFill>
                  <a:srgbClr val="FDBB4A"/>
                </a:solidFill>
              </a:rPr>
              <a:t>独家总冠名合作提案</a:t>
            </a:r>
          </a:p>
        </p:txBody>
      </p:sp>
    </p:spTree>
    <p:extLst>
      <p:ext uri="{BB962C8B-B14F-4D97-AF65-F5344CB8AC3E}">
        <p14:creationId xmlns:p14="http://schemas.microsoft.com/office/powerpoint/2010/main" val="11257198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D88D2921-28C5-4328-B25F-8F32384C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8A8"/>
                </a:solidFill>
              </a:defRPr>
            </a:pPr>
            <a:r>
              <a:rPr sz="1200" b="1">
                <a:solidFill>
                  <a:srgbClr val="00A8A8"/>
                </a:solidFill>
              </a:rPr>
              <a:t>01 / 项目立意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53248D1-3CFC-4679-B3A7-B61FE78D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252F"/>
                </a:solidFill>
              </a:defRPr>
            </a:pPr>
            <a:r>
              <a:rPr sz="3600" b="1">
                <a:solidFill>
                  <a:srgbClr val="13252F"/>
                </a:solidFill>
              </a:rPr>
              <a:t>这不只是一场比赛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2C7A771-5851-49EC-87FF-9AEEDF3F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27C"/>
                </a:solidFill>
              </a:defRPr>
            </a:pPr>
            <a:r>
              <a:rPr sz="1500" b="0">
                <a:solidFill>
                  <a:srgbClr val="5E727C"/>
                </a:solidFill>
              </a:rPr>
              <a:t>它让每一步奔跑，同时指向感恩与帮扶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76C4E566-1B20-4344-9404-2E20A568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953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5603B59-F188-4D7B-A059-F01878E1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7E36B"/>
                </a:solidFill>
              </a:defRPr>
            </a:pPr>
            <a:r>
              <a:rPr sz="1425" b="1">
                <a:solidFill>
                  <a:srgbClr val="B7E36B"/>
                </a:solidFill>
              </a:rPr>
              <a:t>为谁而跑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4D6B208-6771-43A2-81DD-15B5BCB2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3905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致敬默默守护我们、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带给我们温暖与光亮的人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3993622-5BCC-49B0-B3CD-030C60FE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ED4"/>
                </a:solidFill>
              </a:defRPr>
            </a:pPr>
            <a:r>
              <a:rPr sz="1350" b="0">
                <a:solidFill>
                  <a:srgbClr val="B7CED4"/>
                </a:solidFill>
              </a:rPr>
              <a:t>让赛道有速度，也有温度。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37C98325-0B19-4839-B9D4-8B0DC98C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52650"/>
            <a:ext cx="55435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7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C3D3107-D946-4C4F-8241-FEC359D7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A8A8"/>
                </a:solidFill>
              </a:defRPr>
            </a:pPr>
            <a:r>
              <a:rPr sz="1425" b="1">
                <a:solidFill>
                  <a:srgbClr val="00A8A8"/>
                </a:solidFill>
              </a:rPr>
              <a:t>为谁点亮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FB4799C-A123-42B8-9B6F-BD276507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28950"/>
            <a:ext cx="4572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52F"/>
                </a:solidFill>
              </a:defRPr>
            </a:pPr>
            <a:r>
              <a:rPr sz="2550" b="1">
                <a:solidFill>
                  <a:srgbClr val="13252F"/>
                </a:solidFill>
              </a:rPr>
              <a:t>全部报名费捐赠点爱基金，</a:t>
            </a:r>
          </a:p>
          <a:p xmlns:a="http://schemas.openxmlformats.org/drawingml/2006/main">
            <a:pPr algn="l">
              <a:defRPr sz="2550" b="1">
                <a:solidFill>
                  <a:srgbClr val="13252F"/>
                </a:solidFill>
              </a:defRPr>
            </a:pPr>
            <a:r>
              <a:rPr sz="2550" b="1">
                <a:solidFill>
                  <a:srgbClr val="13252F"/>
                </a:solidFill>
              </a:rPr>
              <a:t>定向帮扶困难群体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0D110F0-2B8F-444B-94F0-B3801BE2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339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727C"/>
                </a:solidFill>
              </a:defRPr>
            </a:pPr>
            <a:r>
              <a:rPr sz="1350" b="0">
                <a:solidFill>
                  <a:srgbClr val="5E727C"/>
                </a:solidFill>
              </a:rPr>
              <a:t>让每一次报名，都成为真实的爱心助力。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EE4A2963-67C3-47AE-A50F-CA8E87F6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7CFABBB2-0359-43E5-9374-A94E9C60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7C"/>
                </a:solidFill>
              </a:defRPr>
            </a:pPr>
            <a:r>
              <a:rPr sz="900" b="1">
                <a:solidFill>
                  <a:srgbClr val="5E727C"/>
                </a:solidFill>
              </a:rPr>
              <a:t>PENGFEI GROUP CUP · HYDROGEN BUILDS A NEW JOURNEY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5566FF86-23A7-47E4-B88F-30D454AD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3252F"/>
                </a:solidFill>
              </a:defRPr>
            </a:pPr>
            <a:r>
              <a:rPr sz="1050" b="1">
                <a:solidFill>
                  <a:srgbClr val="13252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94665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3E9A2FCA-D657-4D8D-B77E-4DEC0B91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8A8"/>
                </a:solidFill>
              </a:defRPr>
            </a:pPr>
            <a:r>
              <a:rPr sz="1200" b="1">
                <a:solidFill>
                  <a:srgbClr val="00A8A8"/>
                </a:solidFill>
              </a:rPr>
              <a:t>01 / 项目立意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72D15B4-E051-4550-8ECD-D14AD965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252F"/>
                </a:solidFill>
              </a:defRPr>
            </a:pPr>
            <a:r>
              <a:rPr sz="3600" b="1">
                <a:solidFill>
                  <a:srgbClr val="13252F"/>
                </a:solidFill>
              </a:rPr>
              <a:t>四个价值，把赛事变成一项长期品牌资产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8960A4B-ED24-4B03-95C6-87CD75E2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A8A8"/>
                </a:solidFill>
              </a:defRPr>
            </a:pPr>
            <a:r>
              <a:rPr sz="2250" b="1">
                <a:solidFill>
                  <a:srgbClr val="00A8A8"/>
                </a:solidFill>
              </a:rPr>
              <a:t>01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29B48B4A-2190-49F5-9A5C-FE42D975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AB80AFE-025D-49E3-8611-CDEBFD29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52F"/>
                </a:solidFill>
              </a:defRPr>
            </a:pPr>
            <a:r>
              <a:rPr sz="2100" b="1">
                <a:solidFill>
                  <a:srgbClr val="13252F"/>
                </a:solidFill>
              </a:rPr>
              <a:t>绿色前行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76BC0DB-4B1A-43BF-BB80-B9240752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727C"/>
                </a:solidFill>
              </a:defRPr>
            </a:pPr>
            <a:r>
              <a:rPr sz="1425" b="0">
                <a:solidFill>
                  <a:srgbClr val="5E727C"/>
                </a:solidFill>
              </a:rPr>
              <a:t>低碳赛事与氢能理念同场表达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CB2565F-66DF-478B-BADD-C49016E7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47900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A8A8"/>
                </a:solidFill>
              </a:defRPr>
            </a:pPr>
            <a:r>
              <a:rPr sz="2250" b="1">
                <a:solidFill>
                  <a:srgbClr val="00A8A8"/>
                </a:solidFill>
              </a:rPr>
              <a:t>02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3B19BC41-F785-419F-BEA5-9E05CC9D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575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6E8E016-AC28-41A9-8F2F-772C8DC5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051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52F"/>
                </a:solidFill>
              </a:defRPr>
            </a:pPr>
            <a:r>
              <a:rPr sz="2100" b="1">
                <a:solidFill>
                  <a:srgbClr val="13252F"/>
                </a:solidFill>
              </a:rPr>
              <a:t>向阳向善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A3C669F-A843-4E4E-A6D5-AF07FF09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727C"/>
                </a:solidFill>
              </a:defRPr>
            </a:pPr>
            <a:r>
              <a:rPr sz="1425" b="0">
                <a:solidFill>
                  <a:srgbClr val="5E727C"/>
                </a:solidFill>
              </a:rPr>
              <a:t>用阳光叙事连接每一位跑者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8E57929-4B9E-448B-8A03-D13D9473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47900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A8A8"/>
                </a:solidFill>
              </a:defRPr>
            </a:pPr>
            <a:r>
              <a:rPr sz="2250" b="1">
                <a:solidFill>
                  <a:srgbClr val="00A8A8"/>
                </a:solidFill>
              </a:rPr>
              <a:t>03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D5F710E6-9EFA-4783-AE75-8E8EA206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575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A499054-D2B1-4842-8F79-305B4A09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051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52F"/>
                </a:solidFill>
              </a:defRPr>
            </a:pPr>
            <a:r>
              <a:rPr sz="2100" b="1">
                <a:solidFill>
                  <a:srgbClr val="13252F"/>
                </a:solidFill>
              </a:rPr>
              <a:t>感恩担当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0C8A152-2DBD-45D2-8D5A-29DD817C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52850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727C"/>
                </a:solidFill>
              </a:defRPr>
            </a:pPr>
            <a:r>
              <a:rPr sz="1425" b="0">
                <a:solidFill>
                  <a:srgbClr val="5E727C"/>
                </a:solidFill>
              </a:rPr>
              <a:t>让参与者表达感谢与责任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BA47773-B605-46DA-847C-72468931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47900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DBB4A"/>
                </a:solidFill>
              </a:defRPr>
            </a:pPr>
            <a:r>
              <a:rPr sz="2250" b="1">
                <a:solidFill>
                  <a:srgbClr val="FDBB4A"/>
                </a:solidFill>
              </a:rPr>
              <a:t>04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5A086B52-7041-47D5-AB3A-522E869F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49C375A-AD25-46C4-9F53-462885A5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52F"/>
                </a:solidFill>
              </a:defRPr>
            </a:pPr>
            <a:r>
              <a:rPr sz="2100" b="1">
                <a:solidFill>
                  <a:srgbClr val="13252F"/>
                </a:solidFill>
              </a:rPr>
              <a:t>公益奉献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B76E599-279E-4936-B51D-48FA2B6E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52850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727C"/>
                </a:solidFill>
              </a:defRPr>
            </a:pPr>
            <a:r>
              <a:rPr sz="1425" b="0">
                <a:solidFill>
                  <a:srgbClr val="5E727C"/>
                </a:solidFill>
              </a:rPr>
              <a:t>报名费全额捐赠，形成行动闭环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83C24F0-F0FE-406F-B17D-DE1803CA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C2C"/>
                </a:solidFill>
              </a:defRPr>
            </a:pPr>
            <a:r>
              <a:rPr sz="2100" b="1">
                <a:solidFill>
                  <a:srgbClr val="071C2C"/>
                </a:solidFill>
              </a:rPr>
              <a:t>体育活力 × 绿色产业 × 人文公益 × 企业责任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BB010550-4C5E-421C-8875-A5A2E3F6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ooter">
            <a:extLst xmlns:a="http://schemas.openxmlformats.org/drawingml/2006/main">
              <a:ext uri="{FF2B5EF4-FFF2-40B4-BE49-F238E27FC236}">
                <a16:creationId xmlns:a16="http://schemas.microsoft.com/office/drawing/2014/main" id="{B949378B-93E3-4A30-A8E6-C15422B6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7C"/>
                </a:solidFill>
              </a:defRPr>
            </a:pPr>
            <a:r>
              <a:rPr sz="900" b="1">
                <a:solidFill>
                  <a:srgbClr val="5E727C"/>
                </a:solidFill>
              </a:rPr>
              <a:t>PENGFEI GROUP CUP · HYDROGEN BUILDS A NEW JOURNEY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D40D4A54-BBCF-40D3-A276-8A8ABBB7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3252F"/>
                </a:solidFill>
              </a:defRPr>
            </a:pPr>
            <a:r>
              <a:rPr sz="1050" b="1">
                <a:solidFill>
                  <a:srgbClr val="13252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889907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55DF581A-3BA0-4D46-9CCD-D02F38C7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E36B"/>
                </a:solidFill>
              </a:defRPr>
            </a:pPr>
            <a:r>
              <a:rPr sz="1200" b="1">
                <a:solidFill>
                  <a:srgbClr val="B7E36B"/>
                </a:solidFill>
              </a:rPr>
              <a:t>01 / 项目立意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8A381F3-5AFC-419A-9E99-59935578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今天的马拉松，正在成为城市与产业的连接器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FFDAA18-F87C-4BFE-B6E5-F2CF067D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ED4"/>
                </a:solidFill>
              </a:defRPr>
            </a:pPr>
            <a:r>
              <a:rPr sz="1500" b="0">
                <a:solidFill>
                  <a:srgbClr val="B7CED4"/>
                </a:solidFill>
              </a:rPr>
              <a:t>一次赛事聚合跑者、媒体、消费与公共价值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B306F09-88A4-4809-BD02-D272F71A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E36B"/>
                </a:solidFill>
              </a:defRPr>
            </a:pPr>
            <a:r>
              <a:rPr sz="1875" b="1">
                <a:solidFill>
                  <a:srgbClr val="B7E36B"/>
                </a:solidFill>
              </a:rPr>
              <a:t>全民健身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26952537-D997-4EEA-BE89-A64356FF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71725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23E4740-4AFB-47DD-A9F6-2F8AA29F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717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让更多人主动参与健康生活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C9026CA-5802-4B22-828E-EC8B856F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E36B"/>
                </a:solidFill>
              </a:defRPr>
            </a:pPr>
            <a:r>
              <a:rPr sz="1875" b="1">
                <a:solidFill>
                  <a:srgbClr val="B7E36B"/>
                </a:solidFill>
              </a:rPr>
              <a:t>绿色发展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8C3B422C-73F3-4CEA-95C4-DF41E5BF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09925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BE2B16B-8AF6-4823-9DF1-98133B1F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099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把低碳理念转化为可体验的现场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B6EA914-411D-4060-8CAD-9EDAAC74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E36B"/>
                </a:solidFill>
              </a:defRPr>
            </a:pPr>
            <a:r>
              <a:rPr sz="1875" b="1">
                <a:solidFill>
                  <a:srgbClr val="B7E36B"/>
                </a:solidFill>
              </a:rPr>
              <a:t>赛事经济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7529FDF4-B97A-43F2-ABCE-A683F864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48125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AC784D4-52CB-4929-9FE9-0124653F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481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连接吃、住、行、游、购、娱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099F06B-D52B-496D-9E0A-C96DE9AA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DBB4A"/>
                </a:solidFill>
              </a:defRPr>
            </a:pPr>
            <a:r>
              <a:rPr sz="1875" b="1">
                <a:solidFill>
                  <a:srgbClr val="FDBB4A"/>
                </a:solidFill>
              </a:rPr>
              <a:t>公益参与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61534416-2295-4AF9-B301-ADEA12BB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86325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7F9912D-B348-40FA-B73B-0EE462C5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863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让个人行动沉淀为社会价值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334D40D0-34F8-47CC-A09B-445D3EA2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2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3335B75A-0DD8-416C-B9AB-7B86A257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B1BB"/>
                </a:solidFill>
              </a:defRPr>
            </a:pPr>
            <a:r>
              <a:rPr sz="900" b="1">
                <a:solidFill>
                  <a:srgbClr val="8FB1BB"/>
                </a:solidFill>
              </a:rPr>
              <a:t>PENGFEI GROUP CUP · HYDROGEN BUILDS A NEW JOURNEY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5519B902-FFDD-438A-B3AB-5A839C6E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755666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4E78D417-AFA8-4659-BC8F-39A04C7D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8A8"/>
                </a:solidFill>
              </a:defRPr>
            </a:pPr>
            <a:r>
              <a:rPr sz="1200" b="1">
                <a:solidFill>
                  <a:srgbClr val="00A8A8"/>
                </a:solidFill>
              </a:rPr>
              <a:t>02 / 品牌契合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F82BBD5-801D-4C17-A18E-7F7D6632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252F"/>
                </a:solidFill>
              </a:defRPr>
            </a:pPr>
            <a:r>
              <a:rPr sz="3600" b="1">
                <a:solidFill>
                  <a:srgbClr val="13252F"/>
                </a:solidFill>
              </a:rPr>
              <a:t>鹏飞与赛事，共享同一套价值语言</a:t>
            </a:r>
          </a:p>
        </p:txBody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243610DF-F5BB-4014-B899-38436041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082040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0B157A4-910F-409B-980E-41D83FEA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8A8"/>
                </a:solidFill>
              </a:defRPr>
            </a:pPr>
            <a:r>
              <a:rPr sz="1350" b="1">
                <a:solidFill>
                  <a:srgbClr val="00A8A8"/>
                </a:solidFill>
              </a:rPr>
              <a:t>赛事内核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D740AA6-7477-421D-9374-EFFD7AB5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8A8"/>
                </a:solidFill>
              </a:defRPr>
            </a:pPr>
            <a:r>
              <a:rPr sz="1350" b="1">
                <a:solidFill>
                  <a:srgbClr val="00A8A8"/>
                </a:solidFill>
              </a:rPr>
              <a:t>鹏飞集团价值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B50CFF5A-E987-4CDF-B99A-FB3A9F2D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8E8AF5C-0B02-4B4F-8A51-14ABE213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52F"/>
                </a:solidFill>
              </a:defRPr>
            </a:pPr>
            <a:r>
              <a:rPr sz="1725" b="1">
                <a:solidFill>
                  <a:srgbClr val="13252F"/>
                </a:solidFill>
              </a:rPr>
              <a:t>绿色低碳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E78BD98-CAB7-4962-A008-A48C6717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575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52F"/>
                </a:solidFill>
              </a:defRPr>
            </a:pPr>
            <a:r>
              <a:rPr sz="1725" b="0">
                <a:solidFill>
                  <a:srgbClr val="13252F"/>
                </a:solidFill>
              </a:rPr>
              <a:t>氢能与清洁能源产业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9070E3C9-5C6D-40D2-A1FB-C7A7FA5B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E75727B-E1C7-44C3-922C-CD3D0AB1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52F"/>
                </a:solidFill>
              </a:defRPr>
            </a:pPr>
            <a:r>
              <a:rPr sz="1725" b="1">
                <a:solidFill>
                  <a:srgbClr val="13252F"/>
                </a:solidFill>
              </a:rPr>
              <a:t>公益向善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1AC4A83-4D7C-47B9-9241-2B851EE8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671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52F"/>
                </a:solidFill>
              </a:defRPr>
            </a:pPr>
            <a:r>
              <a:rPr sz="1725" b="0">
                <a:solidFill>
                  <a:srgbClr val="13252F"/>
                </a:solidFill>
              </a:rPr>
              <a:t>长期社会责任与企业担当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55B9D2D9-62AA-4068-8FEF-4A4A30D8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53D80BB-DAF1-4CE3-B398-B0FA1836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52F"/>
                </a:solidFill>
              </a:defRPr>
            </a:pPr>
            <a:r>
              <a:rPr sz="1725" b="1">
                <a:solidFill>
                  <a:srgbClr val="13252F"/>
                </a:solidFill>
              </a:rPr>
              <a:t>坚持突破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93CF925-3FD7-4E44-B386-72DBFDA2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767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52F"/>
                </a:solidFill>
              </a:defRPr>
            </a:pPr>
            <a:r>
              <a:rPr sz="1725" b="0">
                <a:solidFill>
                  <a:srgbClr val="13252F"/>
                </a:solidFill>
              </a:rPr>
              <a:t>实业发展与绿色转型精神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179BC9B-EDD7-44BC-977C-20B8FFAC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F564927-3449-4EE5-9ADE-7AD5E24B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52F"/>
                </a:solidFill>
              </a:defRPr>
            </a:pPr>
            <a:r>
              <a:rPr sz="1725" b="1">
                <a:solidFill>
                  <a:srgbClr val="13252F"/>
                </a:solidFill>
              </a:rPr>
              <a:t>聚合城市人群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451D54B-1830-4310-A557-567E3DF4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86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52F"/>
                </a:solidFill>
              </a:defRPr>
            </a:pPr>
            <a:r>
              <a:rPr sz="1725" b="0">
                <a:solidFill>
                  <a:srgbClr val="13252F"/>
                </a:solidFill>
              </a:rPr>
              <a:t>综合产业与品牌影响力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43ABA323-5C36-4AA0-9B6C-D563327D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DB322D93-A1CC-4B21-932B-C58C0F05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7C"/>
                </a:solidFill>
              </a:defRPr>
            </a:pPr>
            <a:r>
              <a:rPr sz="900" b="1">
                <a:solidFill>
                  <a:srgbClr val="5E727C"/>
                </a:solidFill>
              </a:rPr>
              <a:t>PENGFEI GROUP CUP · HYDROGEN BUILDS A NEW JOURNEY</a:t>
            </a:r>
          </a:p>
        </p:txBody>
      </p:sp>
      <p:sp>
        <p:nvSpPr>
          <p:cNvPr id="20" name="page">
            <a:extLst xmlns:a="http://schemas.openxmlformats.org/drawingml/2006/main">
              <a:ext uri="{FF2B5EF4-FFF2-40B4-BE49-F238E27FC236}">
                <a16:creationId xmlns:a16="http://schemas.microsoft.com/office/drawing/2014/main" id="{334FEFBF-A254-4F32-919D-232CE14B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3252F"/>
                </a:solidFill>
              </a:defRPr>
            </a:pPr>
            <a:r>
              <a:rPr sz="1050" b="1">
                <a:solidFill>
                  <a:srgbClr val="13252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763165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60EE1E97-15E3-4856-BA7D-A288C92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8A8"/>
                </a:solidFill>
              </a:defRPr>
            </a:pPr>
            <a:r>
              <a:rPr sz="1200" b="1">
                <a:solidFill>
                  <a:srgbClr val="00A8A8"/>
                </a:solidFill>
              </a:rPr>
              <a:t>02 / 品牌契合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CCC718A-36AE-4D89-B565-2DAD86A6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252F"/>
                </a:solidFill>
              </a:defRPr>
            </a:pPr>
            <a:r>
              <a:rPr sz="3600" b="1">
                <a:solidFill>
                  <a:srgbClr val="13252F"/>
                </a:solidFill>
              </a:rPr>
              <a:t>“氢筑新程”把产业、公益与人的前行写进名字</a:t>
            </a:r>
          </a:p>
        </p:txBody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31545035-C5B6-46DF-94DB-20054196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286125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6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9F092A9-28C5-4FD7-A7D1-85D1A5A2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857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A8A8"/>
                </a:solidFill>
              </a:defRPr>
            </a:pPr>
            <a:r>
              <a:rPr sz="4350" b="1">
                <a:solidFill>
                  <a:srgbClr val="00A8A8"/>
                </a:solidFill>
              </a:rPr>
              <a:t>氢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64EF077-C071-4D42-8D8E-C9128FAA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52F"/>
                </a:solidFill>
              </a:defRPr>
            </a:pPr>
            <a:r>
              <a:rPr sz="1950" b="1">
                <a:solidFill>
                  <a:srgbClr val="13252F"/>
                </a:solidFill>
              </a:rPr>
              <a:t>绿色能源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195545F-A78E-4945-AC04-66AD3D29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727C"/>
                </a:solidFill>
              </a:defRPr>
            </a:pPr>
            <a:r>
              <a:rPr sz="1425" b="0">
                <a:solidFill>
                  <a:srgbClr val="5E727C"/>
                </a:solidFill>
              </a:rPr>
              <a:t>鹏飞氢能产业的鲜明识别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21F3367E-E1F3-46E1-B500-33892F19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305050"/>
            <a:ext cx="3286125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7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C3A462C-C4EA-4A32-AEFD-4F87D016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571750"/>
            <a:ext cx="857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A8A8"/>
                </a:solidFill>
              </a:defRPr>
            </a:pPr>
            <a:r>
              <a:rPr sz="4350" b="1">
                <a:solidFill>
                  <a:srgbClr val="00A8A8"/>
                </a:solidFill>
              </a:rPr>
              <a:t>筑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68B0B2B-5B11-4B9B-BA30-C478980D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5814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52F"/>
                </a:solidFill>
              </a:defRPr>
            </a:pPr>
            <a:r>
              <a:rPr sz="1950" b="1">
                <a:solidFill>
                  <a:srgbClr val="13252F"/>
                </a:solidFill>
              </a:rPr>
              <a:t>共同建设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513AC99-8B64-42D9-8648-16710D8C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17195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727C"/>
                </a:solidFill>
              </a:defRPr>
            </a:pPr>
            <a:r>
              <a:rPr sz="1425" b="0">
                <a:solidFill>
                  <a:srgbClr val="5E727C"/>
                </a:solidFill>
              </a:rPr>
              <a:t>企业、公益组织与跑者共同参与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B4E94A13-5961-4C20-8128-E3853166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286125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6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BC638F8-59AB-4743-95E1-F13DD421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857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DBB4A"/>
                </a:solidFill>
              </a:defRPr>
            </a:pPr>
            <a:r>
              <a:rPr sz="4350" b="1">
                <a:solidFill>
                  <a:srgbClr val="FDBB4A"/>
                </a:solidFill>
              </a:rPr>
              <a:t>新程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F1B0A1D-E451-488E-9ED9-32D8DD0B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814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52F"/>
                </a:solidFill>
              </a:defRPr>
            </a:pPr>
            <a:r>
              <a:rPr sz="1950" b="1">
                <a:solidFill>
                  <a:srgbClr val="13252F"/>
                </a:solidFill>
              </a:rPr>
              <a:t>面向未来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B97E448-B35D-47E4-876E-7429223E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7195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727C"/>
                </a:solidFill>
              </a:defRPr>
            </a:pPr>
            <a:r>
              <a:rPr sz="1425" b="0">
                <a:solidFill>
                  <a:srgbClr val="5E727C"/>
                </a:solidFill>
              </a:rPr>
              <a:t>能源转型、人生前行与公益新起点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B879255-3B1F-4DD3-9877-998E1CAF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741B72A2-86F3-458D-9C80-275B2300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7C"/>
                </a:solidFill>
              </a:defRPr>
            </a:pPr>
            <a:r>
              <a:rPr sz="900" b="1">
                <a:solidFill>
                  <a:srgbClr val="5E727C"/>
                </a:solidFill>
              </a:rPr>
              <a:t>PENGFEI GROUP CUP · HYDROGEN BUILDS A NEW JOURNEY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78B3B703-D1D3-477C-8286-CA786F89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3252F"/>
                </a:solidFill>
              </a:defRPr>
            </a:pPr>
            <a:r>
              <a:rPr sz="1050" b="1">
                <a:solidFill>
                  <a:srgbClr val="13252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047274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A2C7BB6B-872A-4FDC-8651-288566C1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E36B"/>
                </a:solidFill>
              </a:defRPr>
            </a:pPr>
            <a:r>
              <a:rPr sz="1200" b="1">
                <a:solidFill>
                  <a:srgbClr val="B7E36B"/>
                </a:solidFill>
              </a:rPr>
              <a:t>02 / 品牌契合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2C18202-3AD4-4FCA-B285-BC211A02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一场冠名，同时服务鹏飞的五个品牌目标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117DDCB-9735-4D42-9113-D941C02A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ED4"/>
                </a:solidFill>
              </a:defRPr>
            </a:pPr>
            <a:r>
              <a:rPr sz="1500" b="0">
                <a:solidFill>
                  <a:srgbClr val="B7CED4"/>
                </a:solidFill>
              </a:rPr>
              <a:t>不止获得曝光，更让产业价值被理解、体验与转化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FFAEDF4-9228-4750-B804-EDF7BB6D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E36B"/>
                </a:solidFill>
              </a:defRPr>
            </a:pPr>
            <a:r>
              <a:rPr sz="1650" b="1">
                <a:solidFill>
                  <a:srgbClr val="B7E36B"/>
                </a:solidFill>
              </a:rPr>
              <a:t>01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B8E45915-5293-407D-A127-7B910D49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733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8B31CFD-E188-40A7-A5B8-A2B034FD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80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氢能主业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场景化传播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B0F4658-06A5-47EE-B3C4-D80D962C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431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E36B"/>
                </a:solidFill>
              </a:defRPr>
            </a:pPr>
            <a:r>
              <a:rPr sz="1650" b="1">
                <a:solidFill>
                  <a:srgbClr val="B7E36B"/>
                </a:solidFill>
              </a:rPr>
              <a:t>02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0F20403A-2D86-4B49-84F8-D2D9DF91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14650"/>
            <a:ext cx="1733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7859C61-2B8F-476D-9F91-0A7DBF48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38500"/>
            <a:ext cx="180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文旅资源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持续引流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E74993E-5A10-41DD-A807-D7AD74FF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431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E36B"/>
                </a:solidFill>
              </a:defRPr>
            </a:pPr>
            <a:r>
              <a:rPr sz="1650" b="1">
                <a:solidFill>
                  <a:srgbClr val="B7E36B"/>
                </a:solidFill>
              </a:rPr>
              <a:t>03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BD3DB841-1346-4DBA-B105-E00C7C03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14650"/>
            <a:ext cx="1733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6EEB8A8-3289-419E-8B77-4BD5170E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38500"/>
            <a:ext cx="180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高端酒店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客源转化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649F688-7AC5-43A7-9CFE-00E0E716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431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E36B"/>
                </a:solidFill>
              </a:defRPr>
            </a:pPr>
            <a:r>
              <a:rPr sz="1650" b="1">
                <a:solidFill>
                  <a:srgbClr val="B7E36B"/>
                </a:solidFill>
              </a:rPr>
              <a:t>04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BC03646D-EBDB-4687-AE5D-8FD63A8E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14650"/>
            <a:ext cx="1733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5EB87F4-77C6-4343-A3B5-E9175278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38500"/>
            <a:ext cx="180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企业责任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可视化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A58F97F-D31A-4C88-AE2C-D0350CD1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431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DBB4A"/>
                </a:solidFill>
              </a:defRPr>
            </a:pPr>
            <a:r>
              <a:rPr sz="1650" b="1">
                <a:solidFill>
                  <a:srgbClr val="FDBB4A"/>
                </a:solidFill>
              </a:rPr>
              <a:t>05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07374201-7832-481D-BEF1-77AF3277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14650"/>
            <a:ext cx="1733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8E42733-C3BF-42BB-A780-E4E8F437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38500"/>
            <a:ext cx="180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高端圈层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有效链接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2F48B99-F727-4B01-8706-675804C5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7CED4"/>
                </a:solidFill>
              </a:defRPr>
            </a:pPr>
            <a:r>
              <a:rPr sz="1875" b="0">
                <a:solidFill>
                  <a:srgbClr val="B7CED4"/>
                </a:solidFill>
              </a:rPr>
              <a:t>产业实力被看见，责任担当被感知，消费场景被激活。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AAA7BE0B-01C4-46D0-8941-6A2AD2CF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2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ooter">
            <a:extLst xmlns:a="http://schemas.openxmlformats.org/drawingml/2006/main">
              <a:ext uri="{FF2B5EF4-FFF2-40B4-BE49-F238E27FC236}">
                <a16:creationId xmlns:a16="http://schemas.microsoft.com/office/drawing/2014/main" id="{00520E1E-91C4-4652-809B-DA213F3C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B1BB"/>
                </a:solidFill>
              </a:defRPr>
            </a:pPr>
            <a:r>
              <a:rPr sz="900" b="1">
                <a:solidFill>
                  <a:srgbClr val="8FB1BB"/>
                </a:solidFill>
              </a:rPr>
              <a:t>PENGFEI GROUP CUP · HYDROGEN BUILDS A NEW JOURNEY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1DC25038-DD23-4FA0-ACD2-6C0A047E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278593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E4D33BE0-66F6-4155-8D12-DF1F31C2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8A8"/>
                </a:solidFill>
              </a:defRPr>
            </a:pPr>
            <a:r>
              <a:rPr sz="1200" b="1">
                <a:solidFill>
                  <a:srgbClr val="00A8A8"/>
                </a:solidFill>
              </a:rPr>
              <a:t>02 / 品牌契合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7F48087-9ED2-4D81-BAAB-C8E1CDFC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252F"/>
                </a:solidFill>
              </a:defRPr>
            </a:pPr>
            <a:r>
              <a:rPr sz="3600" b="1">
                <a:solidFill>
                  <a:srgbClr val="13252F"/>
                </a:solidFill>
              </a:rPr>
              <a:t>从赛事流量出发，形成可持续的产业联动闭环</a:t>
            </a:r>
          </a:p>
        </p:txBody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565324D4-8FF2-415A-8861-407DA8FD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1504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466F3B1-3CB9-4AB2-9EB4-A0C81286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52F"/>
                </a:solidFill>
              </a:defRPr>
            </a:pPr>
            <a:r>
              <a:rPr sz="1650" b="1">
                <a:solidFill>
                  <a:srgbClr val="13252F"/>
                </a:solidFill>
              </a:rPr>
              <a:t>赛事流量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F552210-5986-4636-8F7D-754AE049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48000"/>
            <a:ext cx="323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A8A8"/>
                </a:solidFill>
              </a:defRPr>
            </a:pPr>
            <a:r>
              <a:rPr sz="2250" b="1">
                <a:solidFill>
                  <a:srgbClr val="00A8A8"/>
                </a:solidFill>
              </a:rPr>
              <a:t>→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2D8EFFA9-5D17-4535-A235-9FE4FA40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19400"/>
            <a:ext cx="1504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7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8CE7538-785B-45AC-A071-05444AFF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670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52F"/>
                </a:solidFill>
              </a:defRPr>
            </a:pPr>
            <a:r>
              <a:rPr sz="1650" b="1">
                <a:solidFill>
                  <a:srgbClr val="13252F"/>
                </a:solidFill>
              </a:rPr>
              <a:t>品牌认知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9C1F163-3704-4003-9929-CCED8D24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48000"/>
            <a:ext cx="323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A8A8"/>
                </a:solidFill>
              </a:defRPr>
            </a:pPr>
            <a:r>
              <a:rPr sz="2250" b="1">
                <a:solidFill>
                  <a:srgbClr val="00A8A8"/>
                </a:solidFill>
              </a:rPr>
              <a:t>→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93544012-5750-4050-9344-EE9B9631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19400"/>
            <a:ext cx="1504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926CD03-7825-4157-9BF8-F4DF91B5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670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52F"/>
                </a:solidFill>
              </a:defRPr>
            </a:pPr>
            <a:r>
              <a:rPr sz="1650" b="1">
                <a:solidFill>
                  <a:srgbClr val="13252F"/>
                </a:solidFill>
              </a:rPr>
              <a:t>氢能体验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299FF2A-F7D8-477C-AA8E-55715066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48000"/>
            <a:ext cx="323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A8A8"/>
                </a:solidFill>
              </a:defRPr>
            </a:pPr>
            <a:r>
              <a:rPr sz="2250" b="1">
                <a:solidFill>
                  <a:srgbClr val="00A8A8"/>
                </a:solidFill>
              </a:rPr>
              <a:t>→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61766C1F-98AB-47E6-9C4A-15981371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19400"/>
            <a:ext cx="1504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7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B8905C5-EEA1-4491-ADE1-DF036A1B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670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52F"/>
                </a:solidFill>
              </a:defRPr>
            </a:pPr>
            <a:r>
              <a:rPr sz="1650" b="1">
                <a:solidFill>
                  <a:srgbClr val="13252F"/>
                </a:solidFill>
              </a:rPr>
              <a:t>文旅消费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D39B82D-E165-4DDA-AA76-DFDE28D5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48000"/>
            <a:ext cx="323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A8A8"/>
                </a:solidFill>
              </a:defRPr>
            </a:pPr>
            <a:r>
              <a:rPr sz="2250" b="1">
                <a:solidFill>
                  <a:srgbClr val="00A8A8"/>
                </a:solidFill>
              </a:rPr>
              <a:t>→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FAC9AB77-8E3D-4C54-9FE4-CC333AF7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19400"/>
            <a:ext cx="1504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459A6BD-7D04-4E77-9D7C-73EBBFD6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52F"/>
                </a:solidFill>
              </a:defRPr>
            </a:pPr>
            <a:r>
              <a:rPr sz="1650" b="1">
                <a:solidFill>
                  <a:srgbClr val="13252F"/>
                </a:solidFill>
              </a:rPr>
              <a:t>酒店转化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C39421F-69EA-4220-9555-D996A75E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48000"/>
            <a:ext cx="323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A8A8"/>
                </a:solidFill>
              </a:defRPr>
            </a:pPr>
            <a:r>
              <a:rPr sz="2250" b="1">
                <a:solidFill>
                  <a:srgbClr val="00A8A8"/>
                </a:solidFill>
              </a:rPr>
              <a:t>→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D69D4A25-5018-467E-9620-EEF0F84D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19400"/>
            <a:ext cx="1504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3759A5B-5EE8-4867-975C-1A33E4DC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670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公益声誉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482AC78-1AA4-410C-87B1-02F763A4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3252F"/>
                </a:solidFill>
              </a:defRPr>
            </a:pPr>
            <a:r>
              <a:rPr sz="1950" b="1">
                <a:solidFill>
                  <a:srgbClr val="13252F"/>
                </a:solidFill>
              </a:rPr>
              <a:t>冠名的价值，不在一次露出，而在多产业协同带来的长期回报。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82B2D032-049F-4C4F-8969-3A454014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">
            <a:extLst xmlns:a="http://schemas.openxmlformats.org/drawingml/2006/main">
              <a:ext uri="{FF2B5EF4-FFF2-40B4-BE49-F238E27FC236}">
                <a16:creationId xmlns:a16="http://schemas.microsoft.com/office/drawing/2014/main" id="{D88090A9-F537-4EA0-833C-757502FC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7C"/>
                </a:solidFill>
              </a:defRPr>
            </a:pPr>
            <a:r>
              <a:rPr sz="900" b="1">
                <a:solidFill>
                  <a:srgbClr val="5E727C"/>
                </a:solidFill>
              </a:rPr>
              <a:t>PENGFEI GROUP CUP · HYDROGEN BUILDS A NEW JOURNEY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5C16BE0E-D4A2-4063-9ACA-1B7D77F6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3252F"/>
                </a:solidFill>
              </a:defRPr>
            </a:pPr>
            <a:r>
              <a:rPr sz="1050" b="1">
                <a:solidFill>
                  <a:srgbClr val="13252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732714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2DA0EF25-17F5-47E7-8C21-25F7E372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8A8"/>
                </a:solidFill>
              </a:defRPr>
            </a:pPr>
            <a:r>
              <a:rPr sz="1200" b="1">
                <a:solidFill>
                  <a:srgbClr val="00A8A8"/>
                </a:solidFill>
              </a:rPr>
              <a:t>03 / 赛事呈现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F556541-6DF4-4AAC-BE02-ADE620AB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252F"/>
                </a:solidFill>
              </a:defRPr>
            </a:pPr>
            <a:r>
              <a:rPr sz="3600" b="1">
                <a:solidFill>
                  <a:srgbClr val="13252F"/>
                </a:solidFill>
              </a:rPr>
              <a:t>以绿色、公益、感恩为核心，打造赛事基础盘</a:t>
            </a:r>
          </a:p>
        </p:txBody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A0ACECC0-35A9-4DDC-8CA2-11791B9F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E7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13C9489-CECF-48FB-BCAD-37BE350C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8A8"/>
                </a:solidFill>
              </a:defRPr>
            </a:pPr>
            <a:r>
              <a:rPr sz="1275" b="1">
                <a:solidFill>
                  <a:srgbClr val="00A8A8"/>
                </a:solidFill>
              </a:rPr>
              <a:t>举办时间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91112F7-0B5D-42A1-8B6B-AFCA0337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52F"/>
                </a:solidFill>
              </a:defRPr>
            </a:pPr>
            <a:r>
              <a:rPr sz="2100" b="1">
                <a:solidFill>
                  <a:srgbClr val="13252F"/>
                </a:solidFill>
              </a:rPr>
              <a:t>待确认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F028CD9-A329-4DB6-8F9D-23A3BA98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00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8A8"/>
                </a:solidFill>
              </a:defRPr>
            </a:pPr>
            <a:r>
              <a:rPr sz="1275" b="1">
                <a:solidFill>
                  <a:srgbClr val="00A8A8"/>
                </a:solidFill>
              </a:rPr>
              <a:t>举办地点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C5B4260-17B2-4865-BF63-5CB66DEF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62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52F"/>
                </a:solidFill>
              </a:defRPr>
            </a:pPr>
            <a:r>
              <a:rPr sz="2100" b="1">
                <a:solidFill>
                  <a:srgbClr val="13252F"/>
                </a:solidFill>
              </a:rPr>
              <a:t>待确认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49A95C6-9866-40E2-AF3C-5E2F7644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00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8A8"/>
                </a:solidFill>
              </a:defRPr>
            </a:pPr>
            <a:r>
              <a:rPr sz="1275" b="1">
                <a:solidFill>
                  <a:srgbClr val="00A8A8"/>
                </a:solidFill>
              </a:rPr>
              <a:t>竞赛项目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5631878-7B09-4969-A064-EFF29463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62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52F"/>
                </a:solidFill>
              </a:defRPr>
            </a:pPr>
            <a:r>
              <a:rPr sz="2100" b="1">
                <a:solidFill>
                  <a:srgbClr val="13252F"/>
                </a:solidFill>
              </a:rPr>
              <a:t>待确认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4B6810F-7409-4AF1-AF10-B4F67F96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8A8"/>
                </a:solidFill>
              </a:defRPr>
            </a:pPr>
            <a:r>
              <a:rPr sz="1275" b="1">
                <a:solidFill>
                  <a:srgbClr val="00A8A8"/>
                </a:solidFill>
              </a:rPr>
              <a:t>参赛规模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FFA9D85-4EA6-4E60-A722-CC31862A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62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52F"/>
                </a:solidFill>
              </a:defRPr>
            </a:pPr>
            <a:r>
              <a:rPr sz="2100" b="1">
                <a:solidFill>
                  <a:srgbClr val="13252F"/>
                </a:solidFill>
              </a:rPr>
              <a:t>待确认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AA85F9A-2BDE-495A-A1F2-0E6287B3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00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8A8"/>
                </a:solidFill>
              </a:defRPr>
            </a:pPr>
            <a:r>
              <a:rPr sz="1275" b="1">
                <a:solidFill>
                  <a:srgbClr val="00A8A8"/>
                </a:solidFill>
              </a:rPr>
              <a:t>赛道路线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EA7AD55-41F2-4276-9DEB-560B30D4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62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52F"/>
                </a:solidFill>
              </a:defRPr>
            </a:pPr>
            <a:r>
              <a:rPr sz="2100" b="1">
                <a:solidFill>
                  <a:srgbClr val="13252F"/>
                </a:solidFill>
              </a:rPr>
              <a:t>待确认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17C6899-3E0C-4DF9-A06D-4D461A04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00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8A8"/>
                </a:solidFill>
              </a:defRPr>
            </a:pPr>
            <a:r>
              <a:rPr sz="1275" b="1">
                <a:solidFill>
                  <a:srgbClr val="00A8A8"/>
                </a:solidFill>
              </a:rPr>
              <a:t>组织单位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FA0AC75-C32F-4E40-AEBB-3A9B81AF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62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52F"/>
                </a:solidFill>
              </a:defRPr>
            </a:pPr>
            <a:r>
              <a:rPr sz="2100" b="1">
                <a:solidFill>
                  <a:srgbClr val="13252F"/>
                </a:solidFill>
              </a:rPr>
              <a:t>待确认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71ACA1F-2DE2-438D-9046-86BA6C3E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727C"/>
                </a:solidFill>
              </a:defRPr>
            </a:pPr>
            <a:r>
              <a:rPr sz="1275" b="0">
                <a:solidFill>
                  <a:srgbClr val="5E727C"/>
                </a:solidFill>
              </a:rPr>
              <a:t>以上信息将在组委会确认后统一替换，不使用未经确认的数据。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6CCEB326-ED6D-4A1D-BF97-69263AFF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F14ADB6A-C1B7-4738-8769-B2A29C29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7C"/>
                </a:solidFill>
              </a:defRPr>
            </a:pPr>
            <a:r>
              <a:rPr sz="900" b="1">
                <a:solidFill>
                  <a:srgbClr val="5E727C"/>
                </a:solidFill>
              </a:rPr>
              <a:t>PENGFEI GROUP CUP · HYDROGEN BUILDS A NEW JOURNEY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6ABD20B3-D110-4103-84A8-55499E3D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3252F"/>
                </a:solidFill>
              </a:defRPr>
            </a:pPr>
            <a:r>
              <a:rPr sz="1050" b="1">
                <a:solidFill>
                  <a:srgbClr val="13252F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274198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24865550-EF2C-4D10-A963-A1AA57D1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8A8"/>
                </a:solidFill>
              </a:defRPr>
            </a:pPr>
            <a:r>
              <a:rPr sz="1200" b="1">
                <a:solidFill>
                  <a:srgbClr val="00A8A8"/>
                </a:solidFill>
              </a:rPr>
              <a:t>03 / 赛事呈现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AD66A50-FE04-4A78-9AA4-EA67D11F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252F"/>
                </a:solidFill>
              </a:defRPr>
            </a:pPr>
            <a:r>
              <a:rPr sz="3600" b="1">
                <a:solidFill>
                  <a:srgbClr val="13252F"/>
                </a:solidFill>
              </a:rPr>
              <a:t>四条体验线，贯穿跑者从起跑前到完赛后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BB1E113-2DBB-471F-A869-127B187A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68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8A8"/>
                </a:solidFill>
              </a:defRPr>
            </a:pPr>
            <a:r>
              <a:rPr sz="2100" b="1">
                <a:solidFill>
                  <a:srgbClr val="00A8A8"/>
                </a:solidFill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8BF117B-C786-496F-9501-97F6FEEC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955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52F"/>
                </a:solidFill>
              </a:defRPr>
            </a:pPr>
            <a:r>
              <a:rPr sz="1950" b="1">
                <a:solidFill>
                  <a:srgbClr val="13252F"/>
                </a:solidFill>
              </a:rPr>
              <a:t>绿色赛道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7C061663-EF5B-41AA-9401-C0DCABB1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526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46BA0A3-6C8B-4862-8E1A-DCED8981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95500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727C"/>
                </a:solidFill>
              </a:defRPr>
            </a:pPr>
            <a:r>
              <a:rPr sz="1575" b="0">
                <a:solidFill>
                  <a:srgbClr val="5E727C"/>
                </a:solidFill>
              </a:rPr>
              <a:t>低碳倡议、绿色补给、清洁能源场景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123DD48-AA42-49D9-AF72-338CF1C6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68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8A8"/>
                </a:solidFill>
              </a:defRPr>
            </a:pPr>
            <a:r>
              <a:rPr sz="2100" b="1">
                <a:solidFill>
                  <a:srgbClr val="00A8A8"/>
                </a:solidFill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8D48AED-F76E-4605-AC51-682BC275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718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52F"/>
                </a:solidFill>
              </a:defRPr>
            </a:pPr>
            <a:r>
              <a:rPr sz="1950" b="1">
                <a:solidFill>
                  <a:srgbClr val="13252F"/>
                </a:solidFill>
              </a:rPr>
              <a:t>阳光致敬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9D974AC3-B518-444C-B4F6-5B94E8DE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289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0F99606-61A6-441D-9F67-AD9529F1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727C"/>
                </a:solidFill>
              </a:defRPr>
            </a:pPr>
            <a:r>
              <a:rPr sz="1575" b="0">
                <a:solidFill>
                  <a:srgbClr val="5E727C"/>
                </a:solidFill>
              </a:rPr>
              <a:t>为带给你阳光的人写下名字与故事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3DADE75-EB3C-45FF-8583-F3EA59E7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68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8A8"/>
                </a:solidFill>
              </a:defRPr>
            </a:pPr>
            <a:r>
              <a:rPr sz="2100" b="1">
                <a:solidFill>
                  <a:srgbClr val="00A8A8"/>
                </a:solidFill>
              </a:rPr>
              <a:t>03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E74EA7C-02EA-46FA-8BCC-43482365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481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52F"/>
                </a:solidFill>
              </a:defRPr>
            </a:pPr>
            <a:r>
              <a:rPr sz="1950" b="1">
                <a:solidFill>
                  <a:srgbClr val="13252F"/>
                </a:solidFill>
              </a:rPr>
              <a:t>公益捐赠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DD212CB0-F218-42E0-8090-1B40A2BC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052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897128A-5712-4B45-98A2-86D9BC8C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48100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727C"/>
                </a:solidFill>
              </a:defRPr>
            </a:pPr>
            <a:r>
              <a:rPr sz="1575" b="0">
                <a:solidFill>
                  <a:srgbClr val="5E727C"/>
                </a:solidFill>
              </a:rPr>
              <a:t>报名即参与，完赛后可追踪公益去向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436F7EF-5B2F-4C0F-91C9-4034B94E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68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DBB4A"/>
                </a:solidFill>
              </a:defRPr>
            </a:pPr>
            <a:r>
              <a:rPr sz="2100" b="1">
                <a:solidFill>
                  <a:srgbClr val="FDBB4A"/>
                </a:solidFill>
              </a:rPr>
              <a:t>04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F1C327F-031C-46DE-8E49-6D7270FC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244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52F"/>
                </a:solidFill>
              </a:defRPr>
            </a:pPr>
            <a:r>
              <a:rPr sz="1950" b="1">
                <a:solidFill>
                  <a:srgbClr val="13252F"/>
                </a:solidFill>
              </a:rPr>
              <a:t>城市文旅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457D8166-F7A6-40F3-BAC0-0F99B1A2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815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287CAB3-6C66-4C0A-A550-D31F6CEC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24400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727C"/>
                </a:solidFill>
              </a:defRPr>
            </a:pPr>
            <a:r>
              <a:rPr sz="1575" b="0">
                <a:solidFill>
                  <a:srgbClr val="5E727C"/>
                </a:solidFill>
              </a:rPr>
              <a:t>用赛事连接景区、酒店与在地消费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57137E06-040C-48CB-B332-BDDBBB56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D3A8E40C-CF72-4FA3-8A84-7DA2CE01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7C"/>
                </a:solidFill>
              </a:defRPr>
            </a:pPr>
            <a:r>
              <a:rPr sz="900" b="1">
                <a:solidFill>
                  <a:srgbClr val="5E727C"/>
                </a:solidFill>
              </a:rPr>
              <a:t>PENGFEI GROUP CUP · HYDROGEN BUILDS A NEW JOURNEY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FB1ABB4E-E802-4F51-A863-6FB3DCAB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3252F"/>
                </a:solidFill>
              </a:defRPr>
            </a:pPr>
            <a:r>
              <a:rPr sz="1050" b="1">
                <a:solidFill>
                  <a:srgbClr val="13252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636372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4BF6B744-2D3C-43A1-BE1F-F3DF7C7F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E36B"/>
                </a:solidFill>
              </a:defRPr>
            </a:pPr>
            <a:r>
              <a:rPr sz="1200" b="1">
                <a:solidFill>
                  <a:srgbClr val="B7E36B"/>
                </a:solidFill>
              </a:rPr>
              <a:t>03 / 赛事呈现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81121B2-A874-4C43-A193-68C2EECE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每一份报名费，都有清晰、可信的公益去向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890BDC3-A16F-4366-A563-51DDF8D8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ED4"/>
                </a:solidFill>
              </a:defRPr>
            </a:pPr>
            <a:r>
              <a:rPr sz="1500" b="0">
                <a:solidFill>
                  <a:srgbClr val="B7CED4"/>
                </a:solidFill>
              </a:rPr>
              <a:t>建议建立可公示、可追踪、可反馈的捐赠机制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CF0B0FE1-9E55-405D-AF48-AA604398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1714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73B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A1A66DD-6E93-4F5B-B989-16B121E5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跑者报名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B36973C-7D4E-49B9-A697-C91C6090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4800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7E36B"/>
                </a:solidFill>
              </a:defRPr>
            </a:pPr>
            <a:r>
              <a:rPr sz="2250" b="1">
                <a:solidFill>
                  <a:srgbClr val="B7E36B"/>
                </a:solidFill>
              </a:rPr>
              <a:t>→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EBD30EC2-57E2-40A9-A16D-33B5E7F0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1714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73B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2B4F214-4B70-42A8-B4A2-2936DF90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4800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报名费汇集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BD032A5-C78F-4939-9A12-8BED65FE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4800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7E36B"/>
                </a:solidFill>
              </a:defRPr>
            </a:pPr>
            <a:r>
              <a:rPr sz="2250" b="1">
                <a:solidFill>
                  <a:srgbClr val="B7E36B"/>
                </a:solidFill>
              </a:rPr>
              <a:t>→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701F2847-82EE-445E-B04F-0E8301F1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81300"/>
            <a:ext cx="1714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73B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9966C37-7343-4BD1-B3D7-9D4FA8F8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4800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全额捐赠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点爱基金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B4E5E7E-CB62-4EDB-9CC7-F6E3BCB6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4800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7E36B"/>
                </a:solidFill>
              </a:defRPr>
            </a:pPr>
            <a:r>
              <a:rPr sz="2250" b="1">
                <a:solidFill>
                  <a:srgbClr val="B7E36B"/>
                </a:solidFill>
              </a:rPr>
              <a:t>→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03B7BFFB-EA55-425C-B590-E1D82CFB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81300"/>
            <a:ext cx="1714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73B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461EA45-7FEB-4F62-A210-B05CE9A1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4800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定向帮扶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791DF7F-7E7B-410F-A43E-D36E4EED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4800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7E36B"/>
                </a:solidFill>
              </a:defRPr>
            </a:pPr>
            <a:r>
              <a:rPr sz="2250" b="1">
                <a:solidFill>
                  <a:srgbClr val="B7E36B"/>
                </a:solidFill>
              </a:rPr>
              <a:t>→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0AC23577-5B23-4BDD-BA64-E1101DD4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81300"/>
            <a:ext cx="1714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DB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CADF392-6DEB-46E7-9941-E6F41186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4800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C2C"/>
                </a:solidFill>
              </a:defRPr>
            </a:pPr>
            <a:r>
              <a:rPr sz="1575" b="1">
                <a:solidFill>
                  <a:srgbClr val="071C2C"/>
                </a:solidFill>
              </a:rPr>
              <a:t>公益结果公示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3B2CC5F-1449-4D3C-B0D0-E0FE1E6F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7CED4"/>
                </a:solidFill>
              </a:defRPr>
            </a:pPr>
            <a:r>
              <a:rPr sz="1650" b="0">
                <a:solidFill>
                  <a:srgbClr val="B7CED4"/>
                </a:solidFill>
              </a:rPr>
              <a:t>执行建议：统一捐赠票据 · 阶段性公示 · 项目反馈 · 年度公益报告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71506FAA-49C2-4270-B2B9-D7A7C7FE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2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4AA42267-CE81-4A82-BD52-87BA3372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B1BB"/>
                </a:solidFill>
              </a:defRPr>
            </a:pPr>
            <a:r>
              <a:rPr sz="900" b="1">
                <a:solidFill>
                  <a:srgbClr val="8FB1BB"/>
                </a:solidFill>
              </a:rPr>
              <a:t>PENGFEI GROUP CUP · HYDROGEN BUILDS A NEW JOURNEY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EA52C254-7556-4967-BE0A-84D6948D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432673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6CD816F5-4265-4AB7-B2D2-82B210F3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8A8"/>
                </a:solidFill>
              </a:defRPr>
            </a:pPr>
            <a:r>
              <a:rPr sz="1200" b="1">
                <a:solidFill>
                  <a:srgbClr val="00A8A8"/>
                </a:solidFill>
              </a:rPr>
              <a:t>03 / 赛事呈现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3DF89B8-CFD1-40DB-901D-020CCE89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252F"/>
                </a:solidFill>
              </a:defRPr>
            </a:pPr>
            <a:r>
              <a:rPr sz="3600" b="1">
                <a:solidFill>
                  <a:srgbClr val="13252F"/>
                </a:solidFill>
              </a:rPr>
              <a:t>“为谁而跑”让公益主题成为人人可参与的表达</a:t>
            </a:r>
          </a:p>
        </p:txBody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A064B98B-74D2-43F2-91DF-75FC2186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286250" cy="30861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EC39D28-C4D5-42A2-8AD0-E66D47A6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7E36B"/>
                </a:solidFill>
              </a:defRPr>
            </a:pPr>
            <a:r>
              <a:rPr sz="2025" b="1">
                <a:solidFill>
                  <a:srgbClr val="B7E36B"/>
                </a:solidFill>
              </a:rPr>
              <a:t>我为谁而跑？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2BF5F24-9307-4CD4-A582-1ECF3923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333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报名时写下一个名字，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赛道上讲述一段感恩故事。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FA6E4B0-39E0-4F59-956A-32FF2AE6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ED4"/>
                </a:solidFill>
              </a:defRPr>
            </a:pPr>
            <a:r>
              <a:rPr sz="1350" b="0">
                <a:solidFill>
                  <a:srgbClr val="B7CED4"/>
                </a:solidFill>
              </a:rPr>
              <a:t>让品牌与真实情感自然发生连接。</a:t>
            </a:r>
          </a:p>
        </p:txBody>
      </p:sp>
      <p:sp>
        <p:nvSpPr>
          <p:cNvPr id="7" name="dot">
            <a:extLst xmlns:a="http://schemas.openxmlformats.org/drawingml/2006/main">
              <a:ext uri="{FF2B5EF4-FFF2-40B4-BE49-F238E27FC236}">
                <a16:creationId xmlns:a16="http://schemas.microsoft.com/office/drawing/2014/main" id="{88CA05F3-0DFB-4245-BB69-F4D7BE51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907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B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tem-0">
            <a:extLst xmlns:a="http://schemas.openxmlformats.org/drawingml/2006/main">
              <a:ext uri="{FF2B5EF4-FFF2-40B4-BE49-F238E27FC236}">
                <a16:creationId xmlns:a16="http://schemas.microsoft.com/office/drawing/2014/main" id="{E9123944-35C9-4EDF-8ABA-02C18708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050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52F"/>
                </a:solidFill>
              </a:defRPr>
            </a:pPr>
            <a:r>
              <a:rPr sz="1650" b="1">
                <a:solidFill>
                  <a:srgbClr val="13252F"/>
                </a:solidFill>
              </a:rPr>
              <a:t>线上阳光人物故事征集</a:t>
            </a:r>
          </a:p>
        </p:txBody>
      </p:sp>
      <p:sp>
        <p:nvSpPr>
          <p:cNvPr id="9" name="dot">
            <a:extLst xmlns:a="http://schemas.openxmlformats.org/drawingml/2006/main">
              <a:ext uri="{FF2B5EF4-FFF2-40B4-BE49-F238E27FC236}">
                <a16:creationId xmlns:a16="http://schemas.microsoft.com/office/drawing/2014/main" id="{356619FD-86AC-4E06-9CCD-3D20B8AC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622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tem-1">
            <a:extLst xmlns:a="http://schemas.openxmlformats.org/drawingml/2006/main">
              <a:ext uri="{FF2B5EF4-FFF2-40B4-BE49-F238E27FC236}">
                <a16:creationId xmlns:a16="http://schemas.microsoft.com/office/drawing/2014/main" id="{47555AAB-80CE-4F6F-AFE9-6E18D4CE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765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52F"/>
                </a:solidFill>
              </a:defRPr>
            </a:pPr>
            <a:r>
              <a:rPr sz="1650" b="0">
                <a:solidFill>
                  <a:srgbClr val="13252F"/>
                </a:solidFill>
              </a:rPr>
              <a:t>现场阳光留言墙</a:t>
            </a:r>
          </a:p>
        </p:txBody>
      </p:sp>
      <p:sp>
        <p:nvSpPr>
          <p:cNvPr id="11" name="dot">
            <a:extLst xmlns:a="http://schemas.openxmlformats.org/drawingml/2006/main">
              <a:ext uri="{FF2B5EF4-FFF2-40B4-BE49-F238E27FC236}">
                <a16:creationId xmlns:a16="http://schemas.microsoft.com/office/drawing/2014/main" id="{84465089-1D8A-4318-A663-FEE4F09B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337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tem-2">
            <a:extLst xmlns:a="http://schemas.openxmlformats.org/drawingml/2006/main">
              <a:ext uri="{FF2B5EF4-FFF2-40B4-BE49-F238E27FC236}">
                <a16:creationId xmlns:a16="http://schemas.microsoft.com/office/drawing/2014/main" id="{8A23EC11-DF7E-4C62-9996-DDFF2AEF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480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52F"/>
                </a:solidFill>
              </a:defRPr>
            </a:pPr>
            <a:r>
              <a:rPr sz="1650" b="0">
                <a:solidFill>
                  <a:srgbClr val="13252F"/>
                </a:solidFill>
              </a:rPr>
              <a:t>定制号码布或手环</a:t>
            </a:r>
          </a:p>
        </p:txBody>
      </p:sp>
      <p:sp>
        <p:nvSpPr>
          <p:cNvPr id="13" name="dot">
            <a:extLst xmlns:a="http://schemas.openxmlformats.org/drawingml/2006/main">
              <a:ext uri="{FF2B5EF4-FFF2-40B4-BE49-F238E27FC236}">
                <a16:creationId xmlns:a16="http://schemas.microsoft.com/office/drawing/2014/main" id="{6368FC55-8F67-4ECA-8261-0354E874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1052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tem-3">
            <a:extLst xmlns:a="http://schemas.openxmlformats.org/drawingml/2006/main">
              <a:ext uri="{FF2B5EF4-FFF2-40B4-BE49-F238E27FC236}">
                <a16:creationId xmlns:a16="http://schemas.microsoft.com/office/drawing/2014/main" id="{8927AEA6-CF5D-413E-A7AC-E3AC2E2C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52F"/>
                </a:solidFill>
              </a:defRPr>
            </a:pPr>
            <a:r>
              <a:rPr sz="1650" b="0">
                <a:solidFill>
                  <a:srgbClr val="13252F"/>
                </a:solidFill>
              </a:rPr>
              <a:t>完赛公益证书</a:t>
            </a:r>
          </a:p>
        </p:txBody>
      </p:sp>
      <p:sp>
        <p:nvSpPr>
          <p:cNvPr id="15" name="dot">
            <a:extLst xmlns:a="http://schemas.openxmlformats.org/drawingml/2006/main">
              <a:ext uri="{FF2B5EF4-FFF2-40B4-BE49-F238E27FC236}">
                <a16:creationId xmlns:a16="http://schemas.microsoft.com/office/drawing/2014/main" id="{5DFFA11B-E3DD-4CAE-B55D-2C941AE0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767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tem-4">
            <a:extLst xmlns:a="http://schemas.openxmlformats.org/drawingml/2006/main">
              <a:ext uri="{FF2B5EF4-FFF2-40B4-BE49-F238E27FC236}">
                <a16:creationId xmlns:a16="http://schemas.microsoft.com/office/drawing/2014/main" id="{1F5FEC75-340E-43B0-A27A-E26213FB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910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52F"/>
                </a:solidFill>
              </a:defRPr>
            </a:pPr>
            <a:r>
              <a:rPr sz="1650" b="0">
                <a:solidFill>
                  <a:srgbClr val="13252F"/>
                </a:solidFill>
              </a:rPr>
              <a:t>公益人物代表领跑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D77BB901-EACF-4909-885B-8A5A11E6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57129737-A1E3-4B9E-9E47-E81B0445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7C"/>
                </a:solidFill>
              </a:defRPr>
            </a:pPr>
            <a:r>
              <a:rPr sz="900" b="1">
                <a:solidFill>
                  <a:srgbClr val="5E727C"/>
                </a:solidFill>
              </a:rPr>
              <a:t>PENGFEI GROUP CUP · HYDROGEN BUILDS A NEW JOURNEY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4D225322-B66B-4473-A69A-B288AA17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3252F"/>
                </a:solidFill>
              </a:defRPr>
            </a:pPr>
            <a:r>
              <a:rPr sz="1050" b="1">
                <a:solidFill>
                  <a:srgbClr val="13252F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949037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5D6CB0DB-B790-4AC1-86C4-5FCABD0B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8A8"/>
                </a:solidFill>
              </a:defRPr>
            </a:pPr>
            <a:r>
              <a:rPr sz="1200" b="1">
                <a:solidFill>
                  <a:srgbClr val="00A8A8"/>
                </a:solidFill>
              </a:rPr>
              <a:t>03 / 赛事呈现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4983BED-A4ED-49BD-AC71-3DDA63B6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252F"/>
                </a:solidFill>
              </a:defRPr>
            </a:pPr>
            <a:r>
              <a:rPr sz="3600" b="1">
                <a:solidFill>
                  <a:srgbClr val="13252F"/>
                </a:solidFill>
              </a:rPr>
              <a:t>让氢能变成可看、可学、可参与的赛事体验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9BF2E2B-0FB4-40E1-80A5-920727AC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A8A8"/>
                </a:solidFill>
              </a:defRPr>
            </a:pPr>
            <a:r>
              <a:rPr sz="1875" b="1">
                <a:solidFill>
                  <a:srgbClr val="00A8A8"/>
                </a:solidFill>
              </a:rPr>
              <a:t>氢能保障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142FC0F-6887-459A-BA66-330F97BD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52F"/>
                </a:solidFill>
              </a:defRPr>
            </a:pPr>
            <a:r>
              <a:rPr sz="1575" b="1">
                <a:solidFill>
                  <a:srgbClr val="13252F"/>
                </a:solidFill>
              </a:rPr>
              <a:t>氢能车辆或清洁能源设备参与赛事保障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44CD9DD-ACC0-40F1-81D2-D13090D2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A8A8"/>
                </a:solidFill>
              </a:defRPr>
            </a:pPr>
            <a:r>
              <a:rPr sz="1875" b="1">
                <a:solidFill>
                  <a:srgbClr val="00A8A8"/>
                </a:solidFill>
              </a:rPr>
              <a:t>氢能科普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BAEF34C-B301-4646-A5B0-05AF15D2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52F"/>
                </a:solidFill>
              </a:defRPr>
            </a:pPr>
            <a:r>
              <a:rPr sz="1575" b="0">
                <a:solidFill>
                  <a:srgbClr val="13252F"/>
                </a:solidFill>
              </a:rPr>
              <a:t>用简洁互动展示氢能产业链与应用价值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156DAAA-8D37-4342-9DF0-F8AD2179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A8A8"/>
                </a:solidFill>
              </a:defRPr>
            </a:pPr>
            <a:r>
              <a:rPr sz="1875" b="1">
                <a:solidFill>
                  <a:srgbClr val="00A8A8"/>
                </a:solidFill>
              </a:rPr>
              <a:t>绿色补给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77A1ED7-D023-4BE1-9A9E-D8C0F438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52F"/>
                </a:solidFill>
              </a:defRPr>
            </a:pPr>
            <a:r>
              <a:rPr sz="1575" b="0">
                <a:solidFill>
                  <a:srgbClr val="13252F"/>
                </a:solidFill>
              </a:rPr>
              <a:t>减少一次性物料，建立低碳补给规范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45517FE-AF29-44AA-B58A-734926AE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DBB4A"/>
                </a:solidFill>
              </a:defRPr>
            </a:pPr>
            <a:r>
              <a:rPr sz="1875" b="1">
                <a:solidFill>
                  <a:srgbClr val="FDBB4A"/>
                </a:solidFill>
              </a:rPr>
              <a:t>减碳表达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F481705-4AC3-4CE5-93C0-218D363A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9580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52F"/>
                </a:solidFill>
              </a:defRPr>
            </a:pPr>
            <a:r>
              <a:rPr sz="1575" b="0">
                <a:solidFill>
                  <a:srgbClr val="13252F"/>
                </a:solidFill>
              </a:rPr>
              <a:t>形成绿色里程与减碳成果的传播素材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49D6470D-D87B-428D-962D-CFECC1C3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4B795AF6-FE23-43FC-AF16-F9779AF5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7C"/>
                </a:solidFill>
              </a:defRPr>
            </a:pPr>
            <a:r>
              <a:rPr sz="900" b="1">
                <a:solidFill>
                  <a:srgbClr val="5E727C"/>
                </a:solidFill>
              </a:rPr>
              <a:t>PENGFEI GROUP CUP · HYDROGEN BUILDS A NEW JOURNEY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6EE91442-8986-4125-B3CB-40D8F86B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3252F"/>
                </a:solidFill>
              </a:defRPr>
            </a:pPr>
            <a:r>
              <a:rPr sz="1050" b="1">
                <a:solidFill>
                  <a:srgbClr val="13252F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108315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A6763FA0-B4A5-4AEF-9DCF-54A67B8B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E36B"/>
                </a:solidFill>
              </a:defRPr>
            </a:pPr>
            <a:r>
              <a:rPr sz="1200" b="1">
                <a:solidFill>
                  <a:srgbClr val="B7E36B"/>
                </a:solidFill>
              </a:rPr>
              <a:t>04 / 冠名权益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38CAC3B-3192-4917-8545-F106CFAA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六大权益模块，覆盖赛事全链路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72AD461-2BD0-4179-B1A1-7117052F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ED4"/>
                </a:solidFill>
              </a:defRPr>
            </a:pPr>
            <a:r>
              <a:rPr sz="1500" b="0">
                <a:solidFill>
                  <a:srgbClr val="B7CED4"/>
                </a:solidFill>
              </a:rPr>
              <a:t>从名称绑定到产业转化，构成独家总冠名权益体系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D4D5EEA-94CF-41FE-9254-6E5B0EE7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E36B"/>
                </a:solidFill>
              </a:defRPr>
            </a:pPr>
            <a:r>
              <a:rPr sz="1650" b="1">
                <a:solidFill>
                  <a:srgbClr val="B7E36B"/>
                </a:solidFill>
              </a:rPr>
              <a:t>01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53B70D87-0CC3-4FCC-B394-9C55579E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00300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EF88C53-502F-40FC-A1E9-B937AACF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7170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独家名称权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B45A221-E3FC-4CFC-B694-940A7921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E36B"/>
                </a:solidFill>
              </a:defRPr>
            </a:pPr>
            <a:r>
              <a:rPr sz="1650" b="1">
                <a:solidFill>
                  <a:srgbClr val="B7E36B"/>
                </a:solidFill>
              </a:rPr>
              <a:t>02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D7C21A0F-9D11-4D41-B6EA-50D58B42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8FDF37E-BCAD-4677-A65F-D75D159E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全场景视觉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13D09CF-1A99-4FAC-936F-30EF13B6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E36B"/>
                </a:solidFill>
              </a:defRPr>
            </a:pPr>
            <a:r>
              <a:rPr sz="1650" b="1">
                <a:solidFill>
                  <a:srgbClr val="B7E36B"/>
                </a:solidFill>
              </a:rPr>
              <a:t>03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DED18D4A-A758-4005-BB25-8267C04D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00300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B1DE0A5-FD99-48D4-87E1-70ABC108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7170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现场体验区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BCEFFA8-9943-418A-A723-C86F0A15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E36B"/>
                </a:solidFill>
              </a:defRPr>
            </a:pPr>
            <a:r>
              <a:rPr sz="1650" b="1">
                <a:solidFill>
                  <a:srgbClr val="B7E36B"/>
                </a:solidFill>
              </a:rPr>
              <a:t>04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1EFB475F-2E5D-45F2-828D-D68C112F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67150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38CCD6D-A81D-490E-872C-D1B4A878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3855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领导礼遇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CFC63AD-26F5-4994-B855-4327CA54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E36B"/>
                </a:solidFill>
              </a:defRPr>
            </a:pPr>
            <a:r>
              <a:rPr sz="1650" b="1">
                <a:solidFill>
                  <a:srgbClr val="B7E36B"/>
                </a:solidFill>
              </a:rPr>
              <a:t>05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2468035B-4B40-4C56-8689-353DF38E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67150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6F4D45F-7BD8-4543-95F0-998FCA26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3855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全媒体传播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347AF5C-9933-4CC3-AD9E-25B71A59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DBB4A"/>
                </a:solidFill>
              </a:defRPr>
            </a:pPr>
            <a:r>
              <a:rPr sz="1650" b="1">
                <a:solidFill>
                  <a:srgbClr val="FDBB4A"/>
                </a:solidFill>
              </a:rPr>
              <a:t>06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95E97778-5222-4407-873E-04BE03F4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67150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ADA966D-06D2-4BE7-88EA-9C54E669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3855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产业联动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FFCCA920-B7F5-4FF4-B999-294C90FF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2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94034C5D-D776-4D59-9463-98DE1648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B1BB"/>
                </a:solidFill>
              </a:defRPr>
            </a:pPr>
            <a:r>
              <a:rPr sz="900" b="1">
                <a:solidFill>
                  <a:srgbClr val="8FB1BB"/>
                </a:solidFill>
              </a:rPr>
              <a:t>PENGFEI GROUP CUP · HYDROGEN BUILDS A NEW JOURNEY</a:t>
            </a:r>
          </a:p>
        </p:txBody>
      </p:sp>
      <p:sp>
        <p:nvSpPr>
          <p:cNvPr id="24" name="page">
            <a:extLst xmlns:a="http://schemas.openxmlformats.org/drawingml/2006/main">
              <a:ext uri="{FF2B5EF4-FFF2-40B4-BE49-F238E27FC236}">
                <a16:creationId xmlns:a16="http://schemas.microsoft.com/office/drawing/2014/main" id="{2CC116A7-8B4B-45B9-8AD6-736F5D24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398444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5E1D40E6-0902-4561-97C7-595ECB41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8A8"/>
                </a:solidFill>
              </a:defRPr>
            </a:pPr>
            <a:r>
              <a:rPr sz="1200" b="1">
                <a:solidFill>
                  <a:srgbClr val="00A8A8"/>
                </a:solidFill>
              </a:rPr>
              <a:t>04 / 冠名权益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ED5319F-1FBE-40C5-9E58-82FB56FA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252F"/>
                </a:solidFill>
              </a:defRPr>
            </a:pPr>
            <a:r>
              <a:rPr sz="3600" b="1">
                <a:solidFill>
                  <a:srgbClr val="13252F"/>
                </a:solidFill>
              </a:rPr>
              <a:t>鹏飞品牌覆盖从报名到完赛的每个关键触点</a:t>
            </a:r>
          </a:p>
        </p:txBody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40CDF06B-7AA8-445D-8828-B6FE2D3F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381250" cy="32575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DB4A643-5997-45EE-B23C-4AF821C1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8A8"/>
                </a:solidFill>
              </a:defRPr>
            </a:pPr>
            <a:r>
              <a:rPr sz="1800" b="1">
                <a:solidFill>
                  <a:srgbClr val="00A8A8"/>
                </a:solidFill>
              </a:rPr>
              <a:t>赛前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B4AAE40B-36C0-4866-9829-EC5A7AF3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8F0478D-8F3B-4B78-BC93-5C59ECAE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18859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52F"/>
                </a:solidFill>
              </a:defRPr>
            </a:pPr>
            <a:r>
              <a:rPr sz="1575" b="0">
                <a:solidFill>
                  <a:srgbClr val="13252F"/>
                </a:solidFill>
              </a:rPr>
              <a:t>赛事全称</a:t>
            </a:r>
          </a:p>
          <a:p xmlns:a="http://schemas.openxmlformats.org/drawingml/2006/main">
            <a:pPr algn="l">
              <a:defRPr sz="1575" b="0">
                <a:solidFill>
                  <a:srgbClr val="13252F"/>
                </a:solidFill>
              </a:defRPr>
            </a:pPr>
            <a:r>
              <a:rPr sz="1575" b="0">
                <a:solidFill>
                  <a:srgbClr val="13252F"/>
                </a:solidFill>
              </a:rPr>
              <a:t>官方海报</a:t>
            </a:r>
          </a:p>
          <a:p xmlns:a="http://schemas.openxmlformats.org/drawingml/2006/main">
            <a:pPr algn="l">
              <a:defRPr sz="1575" b="0">
                <a:solidFill>
                  <a:srgbClr val="13252F"/>
                </a:solidFill>
              </a:defRPr>
            </a:pPr>
            <a:r>
              <a:rPr sz="1575" b="0">
                <a:solidFill>
                  <a:srgbClr val="13252F"/>
                </a:solidFill>
              </a:rPr>
              <a:t>报名页面</a:t>
            </a:r>
          </a:p>
          <a:p xmlns:a="http://schemas.openxmlformats.org/drawingml/2006/main">
            <a:pPr algn="l">
              <a:defRPr sz="1575" b="0">
                <a:solidFill>
                  <a:srgbClr val="13252F"/>
                </a:solidFill>
              </a:defRPr>
            </a:pPr>
            <a:r>
              <a:rPr sz="1575" b="0">
                <a:solidFill>
                  <a:srgbClr val="13252F"/>
                </a:solidFill>
              </a:rPr>
              <a:t>新闻发布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F2D536B9-B3D2-41E1-A32C-C14F2E61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52650"/>
            <a:ext cx="2381250" cy="32575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15AD142-D4E2-4AF0-AE24-F1E62E8F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0030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8A8"/>
                </a:solidFill>
              </a:defRPr>
            </a:pPr>
            <a:r>
              <a:rPr sz="1800" b="1">
                <a:solidFill>
                  <a:srgbClr val="00A8A8"/>
                </a:solidFill>
              </a:rPr>
              <a:t>赛中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66802B29-1E16-4CCD-A0C2-7A87B979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71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6499C53-648C-41F7-AAC8-D6C4CA9A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19450"/>
            <a:ext cx="18859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52F"/>
                </a:solidFill>
              </a:defRPr>
            </a:pPr>
            <a:r>
              <a:rPr sz="1575" b="0">
                <a:solidFill>
                  <a:srgbClr val="13252F"/>
                </a:solidFill>
              </a:rPr>
              <a:t>起终点主视觉</a:t>
            </a:r>
          </a:p>
          <a:p xmlns:a="http://schemas.openxmlformats.org/drawingml/2006/main">
            <a:pPr algn="l">
              <a:defRPr sz="1575" b="0">
                <a:solidFill>
                  <a:srgbClr val="13252F"/>
                </a:solidFill>
              </a:defRPr>
            </a:pPr>
            <a:r>
              <a:rPr sz="1575" b="0">
                <a:solidFill>
                  <a:srgbClr val="13252F"/>
                </a:solidFill>
              </a:rPr>
              <a:t>起跑拱门</a:t>
            </a:r>
          </a:p>
          <a:p xmlns:a="http://schemas.openxmlformats.org/drawingml/2006/main">
            <a:pPr algn="l">
              <a:defRPr sz="1575" b="0">
                <a:solidFill>
                  <a:srgbClr val="13252F"/>
                </a:solidFill>
              </a:defRPr>
            </a:pPr>
            <a:r>
              <a:rPr sz="1575" b="0">
                <a:solidFill>
                  <a:srgbClr val="13252F"/>
                </a:solidFill>
              </a:rPr>
              <a:t>赛道道旗</a:t>
            </a:r>
          </a:p>
          <a:p xmlns:a="http://schemas.openxmlformats.org/drawingml/2006/main">
            <a:pPr algn="l">
              <a:defRPr sz="1575" b="0">
                <a:solidFill>
                  <a:srgbClr val="13252F"/>
                </a:solidFill>
              </a:defRPr>
            </a:pPr>
            <a:r>
              <a:rPr sz="1575" b="0">
                <a:solidFill>
                  <a:srgbClr val="13252F"/>
                </a:solidFill>
              </a:rPr>
              <a:t>补给站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C169C1C4-30C4-406E-92FF-4617BDF0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52650"/>
            <a:ext cx="2381250" cy="32575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11F9C9D-E0D2-4B6D-AB75-BCE11CC8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8A8"/>
                </a:solidFill>
              </a:defRPr>
            </a:pPr>
            <a:r>
              <a:rPr sz="1800" b="1">
                <a:solidFill>
                  <a:srgbClr val="00A8A8"/>
                </a:solidFill>
              </a:rPr>
              <a:t>参赛物料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54FAA3D9-7EDB-4D37-9706-899B7AD1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71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079C0C8-61F4-4E70-98FD-D0AE0635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18859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52F"/>
                </a:solidFill>
              </a:defRPr>
            </a:pPr>
            <a:r>
              <a:rPr sz="1575" b="0">
                <a:solidFill>
                  <a:srgbClr val="13252F"/>
                </a:solidFill>
              </a:rPr>
              <a:t>参赛服</a:t>
            </a:r>
          </a:p>
          <a:p xmlns:a="http://schemas.openxmlformats.org/drawingml/2006/main">
            <a:pPr algn="l">
              <a:defRPr sz="1575" b="0">
                <a:solidFill>
                  <a:srgbClr val="13252F"/>
                </a:solidFill>
              </a:defRPr>
            </a:pPr>
            <a:r>
              <a:rPr sz="1575" b="0">
                <a:solidFill>
                  <a:srgbClr val="13252F"/>
                </a:solidFill>
              </a:rPr>
              <a:t>号码布</a:t>
            </a:r>
          </a:p>
          <a:p xmlns:a="http://schemas.openxmlformats.org/drawingml/2006/main">
            <a:pPr algn="l">
              <a:defRPr sz="1575" b="0">
                <a:solidFill>
                  <a:srgbClr val="13252F"/>
                </a:solidFill>
              </a:defRPr>
            </a:pPr>
            <a:r>
              <a:rPr sz="1575" b="0">
                <a:solidFill>
                  <a:srgbClr val="13252F"/>
                </a:solidFill>
              </a:rPr>
              <a:t>参赛包</a:t>
            </a:r>
          </a:p>
          <a:p xmlns:a="http://schemas.openxmlformats.org/drawingml/2006/main">
            <a:pPr algn="l">
              <a:defRPr sz="1575" b="0">
                <a:solidFill>
                  <a:srgbClr val="13252F"/>
                </a:solidFill>
              </a:defRPr>
            </a:pPr>
            <a:r>
              <a:rPr sz="1575" b="0">
                <a:solidFill>
                  <a:srgbClr val="13252F"/>
                </a:solidFill>
              </a:rPr>
              <a:t>赛事手册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0F29595F-B046-47F9-86C8-71469B7E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52650"/>
            <a:ext cx="2381250" cy="32575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48BE0F8-C885-479C-A112-6DC1E3D1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0030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DBB4A"/>
                </a:solidFill>
              </a:defRPr>
            </a:pPr>
            <a:r>
              <a:rPr sz="1800" b="1">
                <a:solidFill>
                  <a:srgbClr val="FDBB4A"/>
                </a:solidFill>
              </a:rPr>
              <a:t>完赛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6606E338-758B-46B4-8349-730AF7D7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71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FB7AFD6-9E30-46DD-9701-3005EE72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19450"/>
            <a:ext cx="18859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52F"/>
                </a:solidFill>
              </a:defRPr>
            </a:pPr>
            <a:r>
              <a:rPr sz="1575" b="0">
                <a:solidFill>
                  <a:srgbClr val="13252F"/>
                </a:solidFill>
              </a:rPr>
              <a:t>完赛奖牌</a:t>
            </a:r>
          </a:p>
          <a:p xmlns:a="http://schemas.openxmlformats.org/drawingml/2006/main">
            <a:pPr algn="l">
              <a:defRPr sz="1575" b="0">
                <a:solidFill>
                  <a:srgbClr val="13252F"/>
                </a:solidFill>
              </a:defRPr>
            </a:pPr>
            <a:r>
              <a:rPr sz="1575" b="0">
                <a:solidFill>
                  <a:srgbClr val="13252F"/>
                </a:solidFill>
              </a:rPr>
              <a:t>完赛证书</a:t>
            </a:r>
          </a:p>
          <a:p xmlns:a="http://schemas.openxmlformats.org/drawingml/2006/main">
            <a:pPr algn="l">
              <a:defRPr sz="1575" b="0">
                <a:solidFill>
                  <a:srgbClr val="13252F"/>
                </a:solidFill>
              </a:defRPr>
            </a:pPr>
            <a:r>
              <a:rPr sz="1575" b="0">
                <a:solidFill>
                  <a:srgbClr val="13252F"/>
                </a:solidFill>
              </a:rPr>
              <a:t>颁奖台</a:t>
            </a:r>
          </a:p>
          <a:p xmlns:a="http://schemas.openxmlformats.org/drawingml/2006/main">
            <a:pPr algn="l">
              <a:defRPr sz="1575" b="0">
                <a:solidFill>
                  <a:srgbClr val="13252F"/>
                </a:solidFill>
              </a:defRPr>
            </a:pPr>
            <a:r>
              <a:rPr sz="1575" b="0">
                <a:solidFill>
                  <a:srgbClr val="13252F"/>
                </a:solidFill>
              </a:rPr>
              <a:t>赛后专题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5A599C34-C7F1-4FD1-AD90-F618B170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50D2D683-0092-497E-87CD-5EB24D98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7C"/>
                </a:solidFill>
              </a:defRPr>
            </a:pPr>
            <a:r>
              <a:rPr sz="900" b="1">
                <a:solidFill>
                  <a:srgbClr val="5E727C"/>
                </a:solidFill>
              </a:rPr>
              <a:t>PENGFEI GROUP CUP · HYDROGEN BUILDS A NEW JOURNEY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B201DAE9-E2F0-449B-AAD1-65C97810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3252F"/>
                </a:solidFill>
              </a:defRPr>
            </a:pPr>
            <a:r>
              <a:rPr sz="1050" b="1">
                <a:solidFill>
                  <a:srgbClr val="13252F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040270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D8C9B08A-555B-42B0-A7F3-2699FED8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8A8"/>
                </a:solidFill>
              </a:defRPr>
            </a:pPr>
            <a:r>
              <a:rPr sz="1200" b="1">
                <a:solidFill>
                  <a:srgbClr val="00A8A8"/>
                </a:solidFill>
              </a:rPr>
              <a:t>04 / 冠名权益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4FDF2B2-2FC9-4BB4-9F26-8F0B37BF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252F"/>
                </a:solidFill>
              </a:defRPr>
            </a:pPr>
            <a:r>
              <a:rPr sz="3600" b="1">
                <a:solidFill>
                  <a:srgbClr val="13252F"/>
                </a:solidFill>
              </a:rPr>
              <a:t>一个鹏飞综合体验区，集中展示三大产业名片</a:t>
            </a:r>
          </a:p>
        </p:txBody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6BA42782-F941-4C32-BBA8-CF8A9642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32766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97552F1-B785-4B1D-AB16-1F12E750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7E36B"/>
                </a:solidFill>
              </a:defRPr>
            </a:pPr>
            <a:r>
              <a:rPr sz="2250" b="1">
                <a:solidFill>
                  <a:srgbClr val="B7E36B"/>
                </a:solidFill>
              </a:rPr>
              <a:t>氢能产业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BA82DB5F-FDD5-42D5-8CB0-95708267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D1E1BD0-F818-4FBB-B902-F0DC8F0C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247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技术科普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成果展示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互动体验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C6965B8-25B1-4263-A1DE-4851838E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717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7E36B"/>
                </a:solidFill>
              </a:defRPr>
            </a:pPr>
            <a:r>
              <a:rPr sz="2250" b="1">
                <a:solidFill>
                  <a:srgbClr val="B7E36B"/>
                </a:solidFill>
              </a:rPr>
              <a:t>文旅景区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73E18BD5-D1A0-44BD-B338-9E7854CD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385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3D83D74-61DF-429B-BCA6-4A145E57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581400"/>
            <a:ext cx="247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景区推介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跑者权益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线路产品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B8618A9-1B4A-4A24-BA4B-12EC4FDB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DBB4A"/>
                </a:solidFill>
              </a:defRPr>
            </a:pPr>
            <a:r>
              <a:rPr sz="2250" b="1">
                <a:solidFill>
                  <a:srgbClr val="FDBB4A"/>
                </a:solidFill>
              </a:rPr>
              <a:t>高端酒店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B613179A-863A-420F-A7AB-6DE6EF37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385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E821AA7-1ABD-4B49-AA2F-BCD07789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81400"/>
            <a:ext cx="247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官方接待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现场预订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专属服务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BEFA5A6B-A7AA-4AB3-B9F7-34E3FB9C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443822AF-7925-4470-BDA1-DCCF27D5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7C"/>
                </a:solidFill>
              </a:defRPr>
            </a:pPr>
            <a:r>
              <a:rPr sz="900" b="1">
                <a:solidFill>
                  <a:srgbClr val="5E727C"/>
                </a:solidFill>
              </a:rPr>
              <a:t>PENGFEI GROUP CUP · HYDROGEN BUILDS A NEW JOURNEY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E9109A9C-2489-443B-805B-4C117010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3252F"/>
                </a:solidFill>
              </a:defRPr>
            </a:pPr>
            <a:r>
              <a:rPr sz="1050" b="1">
                <a:solidFill>
                  <a:srgbClr val="13252F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514504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3A4152C0-7FC4-484A-A0EA-DED2E175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8A8"/>
                </a:solidFill>
              </a:defRPr>
            </a:pPr>
            <a:r>
              <a:rPr sz="1200" b="1">
                <a:solidFill>
                  <a:srgbClr val="00A8A8"/>
                </a:solidFill>
              </a:rPr>
              <a:t>04 / 冠名权益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1A877B6-D17F-49BE-A112-30B5EBAA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252F"/>
                </a:solidFill>
              </a:defRPr>
            </a:pPr>
            <a:r>
              <a:rPr sz="3600" b="1">
                <a:solidFill>
                  <a:srgbClr val="13252F"/>
                </a:solidFill>
              </a:rPr>
              <a:t>用一张号码布，把赛事流量带进鹏飞文旅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7E01790-8EBC-465B-97F7-4FD1B6D8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C2C"/>
                </a:solidFill>
              </a:defRPr>
            </a:pPr>
            <a:r>
              <a:rPr sz="2850" b="1">
                <a:solidFill>
                  <a:srgbClr val="071C2C"/>
                </a:solidFill>
              </a:rPr>
              <a:t>号码布即权益凭证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3E46871-54F8-4AD9-ADA0-F16DDA49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38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52F"/>
                </a:solidFill>
              </a:defRPr>
            </a:pPr>
            <a:r>
              <a:rPr sz="1875" b="0">
                <a:solidFill>
                  <a:srgbClr val="13252F"/>
                </a:solidFill>
              </a:rPr>
              <a:t>跑者不仅参加一场比赛，</a:t>
            </a:r>
          </a:p>
          <a:p xmlns:a="http://schemas.openxmlformats.org/drawingml/2006/main">
            <a:pPr algn="l">
              <a:defRPr sz="1875" b="0">
                <a:solidFill>
                  <a:srgbClr val="13252F"/>
                </a:solidFill>
              </a:defRPr>
            </a:pPr>
            <a:r>
              <a:rPr sz="1875" b="0">
                <a:solidFill>
                  <a:srgbClr val="13252F"/>
                </a:solidFill>
              </a:rPr>
              <a:t>还获得进入鹏飞文旅场景的理由。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73593836-4FDD-4C56-8F8C-4BAD5E87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9B9610D-B7A4-4D2E-A4A9-3BD56924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E727C"/>
                </a:solidFill>
              </a:defRPr>
            </a:pPr>
            <a:r>
              <a:rPr sz="1575" b="1">
                <a:solidFill>
                  <a:srgbClr val="5E727C"/>
                </a:solidFill>
              </a:rPr>
              <a:t>赛事曝光 → 权益领取 → 到店核销 → 二次传播</a:t>
            </a:r>
          </a:p>
        </p:txBody>
      </p:sp>
      <p:sp>
        <p:nvSpPr>
          <p:cNvPr id="7" name="dot">
            <a:extLst xmlns:a="http://schemas.openxmlformats.org/drawingml/2006/main">
              <a:ext uri="{FF2B5EF4-FFF2-40B4-BE49-F238E27FC236}">
                <a16:creationId xmlns:a16="http://schemas.microsoft.com/office/drawing/2014/main" id="{435A94DC-1731-4A2E-AEFD-01018E4D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526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tem-0">
            <a:extLst xmlns:a="http://schemas.openxmlformats.org/drawingml/2006/main">
              <a:ext uri="{FF2B5EF4-FFF2-40B4-BE49-F238E27FC236}">
                <a16:creationId xmlns:a16="http://schemas.microsoft.com/office/drawing/2014/main" id="{1533E7AF-D9C1-4739-94D0-C94300A2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52F"/>
                </a:solidFill>
              </a:defRPr>
            </a:pPr>
            <a:r>
              <a:rPr sz="1650" b="1">
                <a:solidFill>
                  <a:srgbClr val="13252F"/>
                </a:solidFill>
              </a:rPr>
              <a:t>跑者专属景区优惠</a:t>
            </a:r>
          </a:p>
        </p:txBody>
      </p:sp>
      <p:sp>
        <p:nvSpPr>
          <p:cNvPr id="9" name="dot">
            <a:extLst xmlns:a="http://schemas.openxmlformats.org/drawingml/2006/main">
              <a:ext uri="{FF2B5EF4-FFF2-40B4-BE49-F238E27FC236}">
                <a16:creationId xmlns:a16="http://schemas.microsoft.com/office/drawing/2014/main" id="{D7A91A4F-513F-4CC4-BD35-356432ED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tem-1">
            <a:extLst xmlns:a="http://schemas.openxmlformats.org/drawingml/2006/main">
              <a:ext uri="{FF2B5EF4-FFF2-40B4-BE49-F238E27FC236}">
                <a16:creationId xmlns:a16="http://schemas.microsoft.com/office/drawing/2014/main" id="{58AEFF7C-F9CE-4D62-AF1D-3144B91C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146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52F"/>
                </a:solidFill>
              </a:defRPr>
            </a:pPr>
            <a:r>
              <a:rPr sz="1650" b="0">
                <a:solidFill>
                  <a:srgbClr val="13252F"/>
                </a:solidFill>
              </a:rPr>
              <a:t>参赛包文旅手册</a:t>
            </a:r>
          </a:p>
        </p:txBody>
      </p:sp>
      <p:sp>
        <p:nvSpPr>
          <p:cNvPr id="11" name="dot">
            <a:extLst xmlns:a="http://schemas.openxmlformats.org/drawingml/2006/main">
              <a:ext uri="{FF2B5EF4-FFF2-40B4-BE49-F238E27FC236}">
                <a16:creationId xmlns:a16="http://schemas.microsoft.com/office/drawing/2014/main" id="{1422DEF8-ED4D-4879-9E8A-D04D68B2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480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tem-2">
            <a:extLst xmlns:a="http://schemas.openxmlformats.org/drawingml/2006/main">
              <a:ext uri="{FF2B5EF4-FFF2-40B4-BE49-F238E27FC236}">
                <a16:creationId xmlns:a16="http://schemas.microsoft.com/office/drawing/2014/main" id="{0A033DB7-40C2-4D29-9499-32823412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52F"/>
                </a:solidFill>
              </a:defRPr>
            </a:pPr>
            <a:r>
              <a:rPr sz="1650" b="0">
                <a:solidFill>
                  <a:srgbClr val="13252F"/>
                </a:solidFill>
              </a:rPr>
              <a:t>赛事直播内容植入</a:t>
            </a:r>
          </a:p>
        </p:txBody>
      </p:sp>
      <p:sp>
        <p:nvSpPr>
          <p:cNvPr id="13" name="dot">
            <a:extLst xmlns:a="http://schemas.openxmlformats.org/drawingml/2006/main">
              <a:ext uri="{FF2B5EF4-FFF2-40B4-BE49-F238E27FC236}">
                <a16:creationId xmlns:a16="http://schemas.microsoft.com/office/drawing/2014/main" id="{076B4383-A202-480A-9DB5-D7BA65B8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957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tem-3">
            <a:extLst xmlns:a="http://schemas.openxmlformats.org/drawingml/2006/main">
              <a:ext uri="{FF2B5EF4-FFF2-40B4-BE49-F238E27FC236}">
                <a16:creationId xmlns:a16="http://schemas.microsoft.com/office/drawing/2014/main" id="{7AB103B6-DF37-4E65-9146-206FE381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100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52F"/>
                </a:solidFill>
              </a:defRPr>
            </a:pPr>
            <a:r>
              <a:rPr sz="1650" b="0">
                <a:solidFill>
                  <a:srgbClr val="13252F"/>
                </a:solidFill>
              </a:rPr>
              <a:t>赛后定向二次触达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CE5717EF-97BC-431D-A439-9A24FD6E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816DEB8A-C649-49EF-9361-6A7350A8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7C"/>
                </a:solidFill>
              </a:defRPr>
            </a:pPr>
            <a:r>
              <a:rPr sz="900" b="1">
                <a:solidFill>
                  <a:srgbClr val="5E727C"/>
                </a:solidFill>
              </a:rPr>
              <a:t>PENGFEI GROUP CUP · HYDROGEN BUILDS A NEW JOURNEY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2CA72F8B-E10C-4DF6-84D0-8D5401BE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3252F"/>
                </a:solidFill>
              </a:defRPr>
            </a:pPr>
            <a:r>
              <a:rPr sz="1050" b="1">
                <a:solidFill>
                  <a:srgbClr val="13252F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0935176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BBC91CBA-025D-41E5-9EBD-309D0A55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8A8"/>
                </a:solidFill>
              </a:defRPr>
            </a:pPr>
            <a:r>
              <a:rPr sz="1200" b="1">
                <a:solidFill>
                  <a:srgbClr val="00A8A8"/>
                </a:solidFill>
              </a:rPr>
              <a:t>04 / 冠名权益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58632EA-46BD-4BCB-8530-A7E6B5CD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252F"/>
                </a:solidFill>
              </a:defRPr>
            </a:pPr>
            <a:r>
              <a:rPr sz="3600" b="1">
                <a:solidFill>
                  <a:srgbClr val="13252F"/>
                </a:solidFill>
              </a:rPr>
              <a:t>官方指定接待酒店，把住宿需求转化为真实客源</a:t>
            </a:r>
          </a:p>
        </p:txBody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51360391-AA8F-4C60-9051-941F55F6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476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C17FEDF-5C3B-4F15-9C26-2C30B67A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3714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官方指定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接待酒店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FEC4AD8-631B-4B83-873A-7051BDBF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E36B"/>
                </a:solidFill>
              </a:defRPr>
            </a:pPr>
            <a:r>
              <a:rPr sz="1500" b="1">
                <a:solidFill>
                  <a:srgbClr val="B7E36B"/>
                </a:solidFill>
              </a:rPr>
              <a:t>鹏飞旗下酒店专属合作身份</a:t>
            </a:r>
          </a:p>
        </p:txBody>
      </p:sp>
      <p:sp>
        <p:nvSpPr>
          <p:cNvPr id="6" name="dot">
            <a:extLst xmlns:a="http://schemas.openxmlformats.org/drawingml/2006/main">
              <a:ext uri="{FF2B5EF4-FFF2-40B4-BE49-F238E27FC236}">
                <a16:creationId xmlns:a16="http://schemas.microsoft.com/office/drawing/2014/main" id="{9DF9AC34-7076-4007-97C9-B5CBE2F2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098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B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tem-0">
            <a:extLst xmlns:a="http://schemas.openxmlformats.org/drawingml/2006/main">
              <a:ext uri="{FF2B5EF4-FFF2-40B4-BE49-F238E27FC236}">
                <a16:creationId xmlns:a16="http://schemas.microsoft.com/office/drawing/2014/main" id="{50E801B4-5019-492C-880D-7F791AA7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2410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52F"/>
                </a:solidFill>
              </a:defRPr>
            </a:pPr>
            <a:r>
              <a:rPr sz="1650" b="1">
                <a:solidFill>
                  <a:srgbClr val="13252F"/>
                </a:solidFill>
              </a:rPr>
              <a:t>官方订房入口与跑者专属房价</a:t>
            </a:r>
          </a:p>
        </p:txBody>
      </p:sp>
      <p:sp>
        <p:nvSpPr>
          <p:cNvPr id="8" name="dot">
            <a:extLst xmlns:a="http://schemas.openxmlformats.org/drawingml/2006/main">
              <a:ext uri="{FF2B5EF4-FFF2-40B4-BE49-F238E27FC236}">
                <a16:creationId xmlns:a16="http://schemas.microsoft.com/office/drawing/2014/main" id="{40E39C67-1F24-4668-9E07-91D1FE7E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384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tem-1">
            <a:extLst xmlns:a="http://schemas.openxmlformats.org/drawingml/2006/main">
              <a:ext uri="{FF2B5EF4-FFF2-40B4-BE49-F238E27FC236}">
                <a16:creationId xmlns:a16="http://schemas.microsoft.com/office/drawing/2014/main" id="{03B6C3BC-A759-40CA-A76D-B5061FF0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527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52F"/>
                </a:solidFill>
              </a:defRPr>
            </a:pPr>
            <a:r>
              <a:rPr sz="1650" b="0">
                <a:solidFill>
                  <a:srgbClr val="13252F"/>
                </a:solidFill>
              </a:rPr>
              <a:t>嘉宾、裁判、媒体集中接待</a:t>
            </a:r>
          </a:p>
        </p:txBody>
      </p:sp>
      <p:sp>
        <p:nvSpPr>
          <p:cNvPr id="10" name="dot">
            <a:extLst xmlns:a="http://schemas.openxmlformats.org/drawingml/2006/main">
              <a:ext uri="{FF2B5EF4-FFF2-40B4-BE49-F238E27FC236}">
                <a16:creationId xmlns:a16="http://schemas.microsoft.com/office/drawing/2014/main" id="{72C4A518-AC90-46FC-BF5C-75DEE5DE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671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tem-2">
            <a:extLst xmlns:a="http://schemas.openxmlformats.org/drawingml/2006/main">
              <a:ext uri="{FF2B5EF4-FFF2-40B4-BE49-F238E27FC236}">
                <a16:creationId xmlns:a16="http://schemas.microsoft.com/office/drawing/2014/main" id="{324DCE6E-2AC8-46AC-890B-DADAC058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8140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52F"/>
                </a:solidFill>
              </a:defRPr>
            </a:pPr>
            <a:r>
              <a:rPr sz="1650" b="0">
                <a:solidFill>
                  <a:srgbClr val="13252F"/>
                </a:solidFill>
              </a:rPr>
              <a:t>赛前能量餐与延迟退房</a:t>
            </a:r>
          </a:p>
        </p:txBody>
      </p:sp>
      <p:sp>
        <p:nvSpPr>
          <p:cNvPr id="12" name="dot">
            <a:extLst xmlns:a="http://schemas.openxmlformats.org/drawingml/2006/main">
              <a:ext uri="{FF2B5EF4-FFF2-40B4-BE49-F238E27FC236}">
                <a16:creationId xmlns:a16="http://schemas.microsoft.com/office/drawing/2014/main" id="{E2479DF5-E082-433F-A394-BB2082B3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957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tem-3">
            <a:extLst xmlns:a="http://schemas.openxmlformats.org/drawingml/2006/main">
              <a:ext uri="{FF2B5EF4-FFF2-40B4-BE49-F238E27FC236}">
                <a16:creationId xmlns:a16="http://schemas.microsoft.com/office/drawing/2014/main" id="{DD6E2AF4-D081-49C9-AF29-39DDD070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100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52F"/>
                </a:solidFill>
              </a:defRPr>
            </a:pPr>
            <a:r>
              <a:rPr sz="1650" b="0">
                <a:solidFill>
                  <a:srgbClr val="13252F"/>
                </a:solidFill>
              </a:rPr>
              <a:t>酒店赛事主题布置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FEBBE55A-A3C2-447C-9EF0-13A43C62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2C1DC742-959F-4748-ADAD-1ADB260C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7C"/>
                </a:solidFill>
              </a:defRPr>
            </a:pPr>
            <a:r>
              <a:rPr sz="900" b="1">
                <a:solidFill>
                  <a:srgbClr val="5E727C"/>
                </a:solidFill>
              </a:rPr>
              <a:t>PENGFEI GROUP CUP · HYDROGEN BUILDS A NEW JOURNEY</a:t>
            </a:r>
          </a:p>
        </p:txBody>
      </p:sp>
      <p:sp>
        <p:nvSpPr>
          <p:cNvPr id="16" name="page">
            <a:extLst xmlns:a="http://schemas.openxmlformats.org/drawingml/2006/main">
              <a:ext uri="{FF2B5EF4-FFF2-40B4-BE49-F238E27FC236}">
                <a16:creationId xmlns:a16="http://schemas.microsoft.com/office/drawing/2014/main" id="{416A869E-131C-4218-896D-A0C4DF91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3252F"/>
                </a:solidFill>
              </a:defRPr>
            </a:pPr>
            <a:r>
              <a:rPr sz="1050" b="1">
                <a:solidFill>
                  <a:srgbClr val="13252F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1551128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F329F6D3-D119-451E-8C4F-2AFF1E7F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E36B"/>
                </a:solidFill>
              </a:defRPr>
            </a:pPr>
            <a:r>
              <a:rPr sz="1200" b="1">
                <a:solidFill>
                  <a:srgbClr val="B7E36B"/>
                </a:solidFill>
              </a:rPr>
              <a:t>04 / 冠名权益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9966E3C-0C6B-4DF9-8E80-F845EC18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让鹏飞成为赛事舞台上的核心发起者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35AA468-C54A-4EA8-BBF3-2BD8F398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ED4"/>
                </a:solidFill>
              </a:defRPr>
            </a:pPr>
            <a:r>
              <a:rPr sz="1500" b="0">
                <a:solidFill>
                  <a:srgbClr val="B7CED4"/>
                </a:solidFill>
              </a:rPr>
              <a:t>品牌礼遇与公益表达同步发生</a:t>
            </a:r>
          </a:p>
        </p:txBody>
      </p:sp>
      <p:sp>
        <p:nvSpPr>
          <p:cNvPr id="4" name="dot">
            <a:extLst xmlns:a="http://schemas.openxmlformats.org/drawingml/2006/main">
              <a:ext uri="{FF2B5EF4-FFF2-40B4-BE49-F238E27FC236}">
                <a16:creationId xmlns:a16="http://schemas.microsoft.com/office/drawing/2014/main" id="{CE155946-8C34-4997-935C-0F59F816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764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B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item-0">
            <a:extLst xmlns:a="http://schemas.openxmlformats.org/drawingml/2006/main">
              <a:ext uri="{FF2B5EF4-FFF2-40B4-BE49-F238E27FC236}">
                <a16:creationId xmlns:a16="http://schemas.microsoft.com/office/drawing/2014/main" id="{8336C1B5-B9A6-49D5-B8B6-9C1CC650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集团领导出席开幕式并致辞</a:t>
            </a:r>
          </a:p>
        </p:txBody>
      </p:sp>
      <p:sp>
        <p:nvSpPr>
          <p:cNvPr id="6" name="dot">
            <a:extLst xmlns:a="http://schemas.openxmlformats.org/drawingml/2006/main">
              <a:ext uri="{FF2B5EF4-FFF2-40B4-BE49-F238E27FC236}">
                <a16:creationId xmlns:a16="http://schemas.microsoft.com/office/drawing/2014/main" id="{642502E3-D268-4082-8961-984721FC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72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9E335F7A-4456-4EBA-B2FD-A8509161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鸣枪起跑与获奖选手颁奖</a:t>
            </a:r>
          </a:p>
        </p:txBody>
      </p:sp>
      <p:sp>
        <p:nvSpPr>
          <p:cNvPr id="8" name="dot">
            <a:extLst xmlns:a="http://schemas.openxmlformats.org/drawingml/2006/main">
              <a:ext uri="{FF2B5EF4-FFF2-40B4-BE49-F238E27FC236}">
                <a16:creationId xmlns:a16="http://schemas.microsoft.com/office/drawing/2014/main" id="{176A8A88-E460-4703-ADDC-B9C2104A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72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8816B99B-94D1-4ABC-BAC7-CCA960EE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主持人重点口播与媒体采访</a:t>
            </a:r>
          </a:p>
        </p:txBody>
      </p:sp>
      <p:sp>
        <p:nvSpPr>
          <p:cNvPr id="10" name="dot">
            <a:extLst xmlns:a="http://schemas.openxmlformats.org/drawingml/2006/main">
              <a:ext uri="{FF2B5EF4-FFF2-40B4-BE49-F238E27FC236}">
                <a16:creationId xmlns:a16="http://schemas.microsoft.com/office/drawing/2014/main" id="{12B755FF-E948-4DD0-AD8F-BAACD297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95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72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79330111-2F35-4F5A-AF41-9178D1EB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鹏飞专属嘉宾接待区</a:t>
            </a:r>
          </a:p>
        </p:txBody>
      </p:sp>
      <p:sp>
        <p:nvSpPr>
          <p:cNvPr id="12" name="dot">
            <a:extLst xmlns:a="http://schemas.openxmlformats.org/drawingml/2006/main">
              <a:ext uri="{FF2B5EF4-FFF2-40B4-BE49-F238E27FC236}">
                <a16:creationId xmlns:a16="http://schemas.microsoft.com/office/drawing/2014/main" id="{D83F1F3D-0620-48FE-BCB5-FEEFDC6B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72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72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45311971-504E-403C-8808-08F1F4DE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公益捐赠仪式与成果发布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C2B188B5-39C0-4D6B-9B1E-87CB3C86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43150"/>
            <a:ext cx="381000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073B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1DF5916-9A79-4DC9-A781-78678866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47950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B7E36B"/>
                </a:solidFill>
              </a:defRPr>
            </a:pPr>
            <a:r>
              <a:rPr sz="2175" b="1">
                <a:solidFill>
                  <a:srgbClr val="B7E36B"/>
                </a:solidFill>
              </a:rPr>
              <a:t>产业实力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270CC16-345E-4844-8D38-E9B9439E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19450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DBB4A"/>
                </a:solidFill>
              </a:defRPr>
            </a:pPr>
            <a:r>
              <a:rPr sz="2100" b="1">
                <a:solidFill>
                  <a:srgbClr val="FDBB4A"/>
                </a:solidFill>
              </a:rPr>
              <a:t>＋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BD02CD8-9754-46FA-AFA8-2B3DC6A5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90950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大爱担当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91E3884E-0037-4140-A6AA-105AA52F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2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D66F87DA-97BD-4317-9D48-E6EE8E6B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B1BB"/>
                </a:solidFill>
              </a:defRPr>
            </a:pPr>
            <a:r>
              <a:rPr sz="900" b="1">
                <a:solidFill>
                  <a:srgbClr val="8FB1BB"/>
                </a:solidFill>
              </a:rPr>
              <a:t>PENGFEI GROUP CUP · HYDROGEN BUILDS A NEW JOURNEY</a:t>
            </a:r>
          </a:p>
        </p:txBody>
      </p:sp>
      <p:sp>
        <p:nvSpPr>
          <p:cNvPr id="20" name="page">
            <a:extLst xmlns:a="http://schemas.openxmlformats.org/drawingml/2006/main">
              <a:ext uri="{FF2B5EF4-FFF2-40B4-BE49-F238E27FC236}">
                <a16:creationId xmlns:a16="http://schemas.microsoft.com/office/drawing/2014/main" id="{CB68E835-CD53-4F0A-BCBB-3F69E3A6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462148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27D80CFC-7394-4837-877A-846510EF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8A8"/>
                </a:solidFill>
              </a:defRPr>
            </a:pPr>
            <a:r>
              <a:rPr sz="1200" b="1">
                <a:solidFill>
                  <a:srgbClr val="00A8A8"/>
                </a:solidFill>
              </a:rPr>
              <a:t>05 / 传播合作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A34F77E-16FE-4166-99F9-3BD31350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252F"/>
                </a:solidFill>
              </a:defRPr>
            </a:pPr>
            <a:r>
              <a:rPr sz="3600" b="1">
                <a:solidFill>
                  <a:srgbClr val="13252F"/>
                </a:solidFill>
              </a:rPr>
              <a:t>贯穿赛前、赛中、赛后，让品牌热度持续累积</a:t>
            </a:r>
          </a:p>
        </p:txBody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F60DD2A2-49A5-4A02-978D-BD0EB0BA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86125" cy="30861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B8B48A3-415E-4ABB-8F52-59CA3FF4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A8A8"/>
                </a:solidFill>
              </a:defRPr>
            </a:pPr>
            <a:r>
              <a:rPr sz="1725" b="1">
                <a:solidFill>
                  <a:srgbClr val="00A8A8"/>
                </a:solidFill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1C2A90D-75FD-4ADF-A712-AA5142BE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52F"/>
                </a:solidFill>
              </a:defRPr>
            </a:pPr>
            <a:r>
              <a:rPr sz="2100" b="1">
                <a:solidFill>
                  <a:srgbClr val="13252F"/>
                </a:solidFill>
              </a:rPr>
              <a:t>赛前预热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257CFC2-74B7-453B-AB8C-32CBBB81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7432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27C"/>
                </a:solidFill>
              </a:defRPr>
            </a:pPr>
            <a:r>
              <a:rPr sz="1500" b="0">
                <a:solidFill>
                  <a:srgbClr val="5E727C"/>
                </a:solidFill>
              </a:rPr>
              <a:t>冠名官宣</a:t>
            </a:r>
          </a:p>
          <a:p xmlns:a="http://schemas.openxmlformats.org/drawingml/2006/main">
            <a:pPr algn="l">
              <a:defRPr sz="1500" b="0">
                <a:solidFill>
                  <a:srgbClr val="5E727C"/>
                </a:solidFill>
              </a:defRPr>
            </a:pPr>
            <a:r>
              <a:rPr sz="1500" b="0">
                <a:solidFill>
                  <a:srgbClr val="5E727C"/>
                </a:solidFill>
              </a:rPr>
              <a:t>报名启动</a:t>
            </a:r>
          </a:p>
          <a:p xmlns:a="http://schemas.openxmlformats.org/drawingml/2006/main">
            <a:pPr algn="l">
              <a:defRPr sz="1500" b="0">
                <a:solidFill>
                  <a:srgbClr val="5E727C"/>
                </a:solidFill>
              </a:defRPr>
            </a:pPr>
            <a:r>
              <a:rPr sz="1500" b="0">
                <a:solidFill>
                  <a:srgbClr val="5E727C"/>
                </a:solidFill>
              </a:rPr>
              <a:t>阳光故事征集</a:t>
            </a:r>
          </a:p>
          <a:p xmlns:a="http://schemas.openxmlformats.org/drawingml/2006/main">
            <a:pPr algn="l">
              <a:defRPr sz="1500" b="0">
                <a:solidFill>
                  <a:srgbClr val="5E727C"/>
                </a:solidFill>
              </a:defRPr>
            </a:pPr>
            <a:r>
              <a:rPr sz="1500" b="0">
                <a:solidFill>
                  <a:srgbClr val="5E727C"/>
                </a:solidFill>
              </a:rPr>
              <a:t>氢能科普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BC8D28A6-3EE3-4BAD-8A57-E6A2E2F5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90750"/>
            <a:ext cx="3286125" cy="30861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7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6AF469A-914B-407E-B891-F356915C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00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A8A8"/>
                </a:solidFill>
              </a:defRPr>
            </a:pPr>
            <a:r>
              <a:rPr sz="1725" b="1">
                <a:solidFill>
                  <a:srgbClr val="00A8A8"/>
                </a:solidFill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33C0826-6DFC-41A6-A261-3F39EC41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0099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52F"/>
                </a:solidFill>
              </a:defRPr>
            </a:pPr>
            <a:r>
              <a:rPr sz="2100" b="1">
                <a:solidFill>
                  <a:srgbClr val="13252F"/>
                </a:solidFill>
              </a:rPr>
              <a:t>赛中引爆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7ECB48F-18C1-4D8F-ADD5-90E583CD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38550"/>
            <a:ext cx="27432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27C"/>
                </a:solidFill>
              </a:defRPr>
            </a:pPr>
            <a:r>
              <a:rPr sz="1500" b="0">
                <a:solidFill>
                  <a:srgbClr val="5E727C"/>
                </a:solidFill>
              </a:rPr>
              <a:t>赛事直播</a:t>
            </a:r>
          </a:p>
          <a:p xmlns:a="http://schemas.openxmlformats.org/drawingml/2006/main">
            <a:pPr algn="l">
              <a:defRPr sz="1500" b="0">
                <a:solidFill>
                  <a:srgbClr val="5E727C"/>
                </a:solidFill>
              </a:defRPr>
            </a:pPr>
            <a:r>
              <a:rPr sz="1500" b="0">
                <a:solidFill>
                  <a:srgbClr val="5E727C"/>
                </a:solidFill>
              </a:rPr>
              <a:t>短视频共创</a:t>
            </a:r>
          </a:p>
          <a:p xmlns:a="http://schemas.openxmlformats.org/drawingml/2006/main">
            <a:pPr algn="l">
              <a:defRPr sz="1500" b="0">
                <a:solidFill>
                  <a:srgbClr val="5E727C"/>
                </a:solidFill>
              </a:defRPr>
            </a:pPr>
            <a:r>
              <a:rPr sz="1500" b="0">
                <a:solidFill>
                  <a:srgbClr val="5E727C"/>
                </a:solidFill>
              </a:rPr>
              <a:t>媒体采访</a:t>
            </a:r>
          </a:p>
          <a:p xmlns:a="http://schemas.openxmlformats.org/drawingml/2006/main">
            <a:pPr algn="l">
              <a:defRPr sz="1500" b="0">
                <a:solidFill>
                  <a:srgbClr val="5E727C"/>
                </a:solidFill>
              </a:defRPr>
            </a:pPr>
            <a:r>
              <a:rPr sz="1500" b="0">
                <a:solidFill>
                  <a:srgbClr val="5E727C"/>
                </a:solidFill>
              </a:rPr>
              <a:t>现场互动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53A47A1C-EF05-4486-8DA6-43C6DBAA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3286125" cy="30861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DC04ACF-2415-4C64-B633-10C6D1CC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0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DBB4A"/>
                </a:solidFill>
              </a:defRPr>
            </a:pPr>
            <a:r>
              <a:rPr sz="1725" b="1">
                <a:solidFill>
                  <a:srgbClr val="FDBB4A"/>
                </a:solidFill>
              </a:rPr>
              <a:t>03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BFA3169-CF67-4635-846A-E7950DD7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99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52F"/>
                </a:solidFill>
              </a:defRPr>
            </a:pPr>
            <a:r>
              <a:rPr sz="2100" b="1">
                <a:solidFill>
                  <a:srgbClr val="13252F"/>
                </a:solidFill>
              </a:rPr>
              <a:t>赛后沉淀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11F44BE-5FD1-4D39-8096-10B949EA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27432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27C"/>
                </a:solidFill>
              </a:defRPr>
            </a:pPr>
            <a:r>
              <a:rPr sz="1500" b="0">
                <a:solidFill>
                  <a:srgbClr val="5E727C"/>
                </a:solidFill>
              </a:rPr>
              <a:t>成绩发布</a:t>
            </a:r>
          </a:p>
          <a:p xmlns:a="http://schemas.openxmlformats.org/drawingml/2006/main">
            <a:pPr algn="l">
              <a:defRPr sz="1500" b="0">
                <a:solidFill>
                  <a:srgbClr val="5E727C"/>
                </a:solidFill>
              </a:defRPr>
            </a:pPr>
            <a:r>
              <a:rPr sz="1500" b="0">
                <a:solidFill>
                  <a:srgbClr val="5E727C"/>
                </a:solidFill>
              </a:rPr>
              <a:t>捐赠公示</a:t>
            </a:r>
          </a:p>
          <a:p xmlns:a="http://schemas.openxmlformats.org/drawingml/2006/main">
            <a:pPr algn="l">
              <a:defRPr sz="1500" b="0">
                <a:solidFill>
                  <a:srgbClr val="5E727C"/>
                </a:solidFill>
              </a:defRPr>
            </a:pPr>
            <a:r>
              <a:rPr sz="1500" b="0">
                <a:solidFill>
                  <a:srgbClr val="5E727C"/>
                </a:solidFill>
              </a:rPr>
              <a:t>人物故事</a:t>
            </a:r>
          </a:p>
          <a:p xmlns:a="http://schemas.openxmlformats.org/drawingml/2006/main">
            <a:pPr algn="l">
              <a:defRPr sz="1500" b="0">
                <a:solidFill>
                  <a:srgbClr val="5E727C"/>
                </a:solidFill>
              </a:defRPr>
            </a:pPr>
            <a:r>
              <a:rPr sz="1500" b="0">
                <a:solidFill>
                  <a:srgbClr val="5E727C"/>
                </a:solidFill>
              </a:rPr>
              <a:t>品牌纪录片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7D05F84D-D45C-4DF8-91C4-D54E6CDB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77F0283E-5102-43C6-BE68-B18DE84A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7C"/>
                </a:solidFill>
              </a:defRPr>
            </a:pPr>
            <a:r>
              <a:rPr sz="900" b="1">
                <a:solidFill>
                  <a:srgbClr val="5E727C"/>
                </a:solidFill>
              </a:rPr>
              <a:t>PENGFEI GROUP CUP · HYDROGEN BUILDS A NEW JOURNEY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70DDE451-5F94-48FB-865F-646E1592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3252F"/>
                </a:solidFill>
              </a:defRPr>
            </a:pPr>
            <a:r>
              <a:rPr sz="1050" b="1">
                <a:solidFill>
                  <a:srgbClr val="13252F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4725823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C157D6DF-293C-41E7-92A8-04844038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8A8"/>
                </a:solidFill>
              </a:defRPr>
            </a:pPr>
            <a:r>
              <a:rPr sz="1200" b="1">
                <a:solidFill>
                  <a:srgbClr val="00A8A8"/>
                </a:solidFill>
              </a:rPr>
              <a:t>05 / 传播合作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DB038FD-9661-451C-94EA-0CB9FD0D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252F"/>
                </a:solidFill>
              </a:defRPr>
            </a:pPr>
            <a:r>
              <a:rPr sz="3600" b="1">
                <a:solidFill>
                  <a:srgbClr val="13252F"/>
                </a:solidFill>
              </a:rPr>
              <a:t>用可衡量指标，检验冠名是否真正产生价值</a:t>
            </a:r>
          </a:p>
        </p:txBody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86792DF4-4C61-40C9-8AA6-69FF4605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1015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6D62E9B9-E728-4E3A-9D22-F839CECB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71700"/>
            <a:ext cx="501015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F3C9BB1-7E7B-4FAA-A927-AB3933FF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A8A8"/>
                </a:solidFill>
              </a:defRPr>
            </a:pPr>
            <a:r>
              <a:rPr sz="1875" b="1">
                <a:solidFill>
                  <a:srgbClr val="00A8A8"/>
                </a:solidFill>
              </a:rPr>
              <a:t>传播与参与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03AEB8B-B1EC-4BE4-AAFC-4D36415E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193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E36B"/>
                </a:solidFill>
              </a:defRPr>
            </a:pPr>
            <a:r>
              <a:rPr sz="1875" b="1">
                <a:solidFill>
                  <a:srgbClr val="B7E36B"/>
                </a:solidFill>
              </a:rPr>
              <a:t>产业与公益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016DC53-60CA-4D7B-81EE-3B1E861E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52F"/>
                </a:solidFill>
              </a:defRPr>
            </a:pPr>
            <a:r>
              <a:rPr sz="1500" b="1">
                <a:solidFill>
                  <a:srgbClr val="13252F"/>
                </a:solidFill>
              </a:rPr>
              <a:t>•  报名人数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7EB9DBE-9455-49E8-84FD-9120E028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52F"/>
                </a:solidFill>
              </a:defRPr>
            </a:pPr>
            <a:r>
              <a:rPr sz="1500" b="0">
                <a:solidFill>
                  <a:srgbClr val="13252F"/>
                </a:solidFill>
              </a:rPr>
              <a:t>•  现场参与人数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B9BD120-C55D-4FA7-9397-E022F91F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52F"/>
                </a:solidFill>
              </a:defRPr>
            </a:pPr>
            <a:r>
              <a:rPr sz="1500" b="0">
                <a:solidFill>
                  <a:srgbClr val="13252F"/>
                </a:solidFill>
              </a:rPr>
              <a:t>•  媒体报道量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13F869D-B969-4BD6-BAAC-8C5EE989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52F"/>
                </a:solidFill>
              </a:defRPr>
            </a:pPr>
            <a:r>
              <a:rPr sz="1500" b="0">
                <a:solidFill>
                  <a:srgbClr val="13252F"/>
                </a:solidFill>
              </a:rPr>
              <a:t>•  视频播放量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A45FBAE-0CE0-4670-AFF3-1CEE87E2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52F"/>
                </a:solidFill>
              </a:defRPr>
            </a:pPr>
            <a:r>
              <a:rPr sz="1500" b="0">
                <a:solidFill>
                  <a:srgbClr val="13252F"/>
                </a:solidFill>
              </a:rPr>
              <a:t>•  品牌曝光量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61EE9EE-B9C3-4A78-9DA6-56C1FD0F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480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•  体验区到访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CA64028-62CB-4595-BEC4-B53CFEA2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861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 文旅权益领取/核销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DDF2FF1-0769-4403-B3C4-B0B28397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24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 酒店预订转化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852AF07-C796-4FEF-B4B0-B02B3418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624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 公益捐赠金额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4C8ECE8-153C-4946-A2BA-D72BF5AC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006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 品牌好感度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7D9288FD-86FD-4C2E-9288-2045EEC8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903F7962-FFD5-47F8-87D8-2B355497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7C"/>
                </a:solidFill>
              </a:defRPr>
            </a:pPr>
            <a:r>
              <a:rPr sz="900" b="1">
                <a:solidFill>
                  <a:srgbClr val="5E727C"/>
                </a:solidFill>
              </a:rPr>
              <a:t>PENGFEI GROUP CUP · HYDROGEN BUILDS A NEW JOURNEY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C89BA22E-F951-40F9-8104-ED79CD6A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3252F"/>
                </a:solidFill>
              </a:defRPr>
            </a:pPr>
            <a:r>
              <a:rPr sz="1050" b="1">
                <a:solidFill>
                  <a:srgbClr val="13252F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4746871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0A436BEE-3152-44A1-B3D8-CADF52A0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E36B"/>
                </a:solidFill>
              </a:defRPr>
            </a:pPr>
            <a:r>
              <a:rPr sz="1200" b="1">
                <a:solidFill>
                  <a:srgbClr val="B7E36B"/>
                </a:solidFill>
              </a:rPr>
              <a:t>05 / 传播合作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9119AEA-151C-49F7-9921-F07C6829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以标杆赛事为起点，建立鹏飞年度公益体育合作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141E43A-C598-4F62-A6AA-B1396194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ED4"/>
                </a:solidFill>
              </a:defRPr>
            </a:pPr>
            <a:r>
              <a:rPr sz="1500" b="0">
                <a:solidFill>
                  <a:srgbClr val="B7CED4"/>
                </a:solidFill>
              </a:rPr>
              <a:t>合作模式可根据现金投入与产业资源灵活组合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8083204F-7F3C-489B-8FCE-B8AFA440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2A7571B-AB59-432C-AEA6-81ACA747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独家现金总冠名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EC09C3F-1DED-4118-8584-E485B6A1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ED4"/>
                </a:solidFill>
              </a:defRPr>
            </a:pPr>
            <a:r>
              <a:rPr sz="1500" b="0">
                <a:solidFill>
                  <a:srgbClr val="B7CED4"/>
                </a:solidFill>
              </a:rPr>
              <a:t>享有完整总冠名与产业联动权益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0E75681A-B977-4B91-9027-718E6C9E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669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20FB307-F8EF-4BB9-8148-829ACB76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5717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现金＋资源置换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BD43713-2AD8-4497-A553-34FEC034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909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ED4"/>
                </a:solidFill>
              </a:defRPr>
            </a:pPr>
            <a:r>
              <a:rPr sz="1500" b="0">
                <a:solidFill>
                  <a:srgbClr val="B7CED4"/>
                </a:solidFill>
              </a:rPr>
              <a:t>组合文旅门票、酒店房券等资源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6D1E9211-A7B0-4927-828D-70B5A429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1F2E5A2-94E6-4BE1-B0DF-DB48DCA0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年度战略合作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4AFA878-B807-4E57-A043-2A510554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909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ED4"/>
                </a:solidFill>
              </a:defRPr>
            </a:pPr>
            <a:r>
              <a:rPr sz="1500" b="0">
                <a:solidFill>
                  <a:srgbClr val="B7CED4"/>
                </a:solidFill>
              </a:rPr>
              <a:t>延展至徒步、商会与系列公益活动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FD0E77F-FF10-4A33-9290-1337E431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6B"/>
                </a:solidFill>
              </a:defRPr>
            </a:pPr>
            <a:r>
              <a:rPr sz="1800" b="1">
                <a:solidFill>
                  <a:srgbClr val="B7E36B"/>
                </a:solidFill>
              </a:rPr>
              <a:t>下一步：确认赛事基础信息、合作投入与鹏飞品牌资产，进入正式权益定稿。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29252397-A7D9-4165-8D1B-55A17E5B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2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E8D47456-8F24-4F3F-9734-B2A7511B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B1BB"/>
                </a:solidFill>
              </a:defRPr>
            </a:pPr>
            <a:r>
              <a:rPr sz="900" b="1">
                <a:solidFill>
                  <a:srgbClr val="8FB1BB"/>
                </a:solidFill>
              </a:rPr>
              <a:t>PENGFEI GROUP CUP · HYDROGEN BUILDS A NEW JOURNEY</a:t>
            </a:r>
          </a:p>
        </p:txBody>
      </p:sp>
      <p:sp>
        <p:nvSpPr>
          <p:cNvPr id="16" name="page">
            <a:extLst xmlns:a="http://schemas.openxmlformats.org/drawingml/2006/main">
              <a:ext uri="{FF2B5EF4-FFF2-40B4-BE49-F238E27FC236}">
                <a16:creationId xmlns:a16="http://schemas.microsoft.com/office/drawing/2014/main" id="{5B931995-9EF7-46BE-8430-D36F10BD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68902670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0E003E94-A678-4B71-8001-9E213756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7C63A614-C901-4961-A72E-FE3D9950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B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6D671DA6-A423-4BD5-98F8-D45DBB4D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00965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0A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BF87CB33-0603-4378-9B1E-532C9F93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409700"/>
            <a:ext cx="10096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BE73F8BD-F64F-4609-BE02-67610740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628775"/>
            <a:ext cx="571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DB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8BBBDCA-D394-417A-92B1-FE9863DB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以氢筑新程，践行绿色使命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A310967-053A-4E84-9806-137E83E3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以为爱奔跑，传递温暖初心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763FE699-0A49-4E79-9F47-223C35F2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E81979C-17A7-4929-8E8F-91D665F6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7E36B"/>
                </a:solidFill>
              </a:defRPr>
            </a:pPr>
            <a:r>
              <a:rPr sz="2325" b="1">
                <a:solidFill>
                  <a:srgbClr val="B7E36B"/>
                </a:solidFill>
              </a:rPr>
              <a:t>携手鹏飞集团</a:t>
            </a:r>
          </a:p>
          <a:p xmlns:a="http://schemas.openxmlformats.org/drawingml/2006/main">
            <a:pPr algn="l">
              <a:defRPr sz="2325" b="1">
                <a:solidFill>
                  <a:srgbClr val="B7E36B"/>
                </a:solidFill>
              </a:defRPr>
            </a:pPr>
            <a:r>
              <a:rPr sz="2325" b="1">
                <a:solidFill>
                  <a:srgbClr val="B7E36B"/>
                </a:solidFill>
              </a:rPr>
              <a:t>让每一步奔跑都有力量，</a:t>
            </a:r>
          </a:p>
          <a:p xmlns:a="http://schemas.openxmlformats.org/drawingml/2006/main">
            <a:pPr algn="l">
              <a:defRPr sz="2325" b="1">
                <a:solidFill>
                  <a:srgbClr val="B7E36B"/>
                </a:solidFill>
              </a:defRPr>
            </a:pPr>
            <a:r>
              <a:rPr sz="2325" b="1">
                <a:solidFill>
                  <a:srgbClr val="B7E36B"/>
                </a:solidFill>
              </a:rPr>
              <a:t>让每一份善意都抵达远方。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E704994-0B83-4BDD-9663-E2B018A9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CED4"/>
                </a:solidFill>
              </a:defRPr>
            </a:pPr>
            <a:r>
              <a:rPr sz="1350" b="1">
                <a:solidFill>
                  <a:srgbClr val="B7CED4"/>
                </a:solidFill>
              </a:rPr>
              <a:t>鹏飞集团杯·氢筑新程马拉松</a:t>
            </a:r>
          </a:p>
        </p:txBody>
      </p:sp>
    </p:spTree>
    <p:extLst>
      <p:ext uri="{BB962C8B-B14F-4D97-AF65-F5344CB8AC3E}">
        <p14:creationId xmlns:p14="http://schemas.microsoft.com/office/powerpoint/2010/main" val="19433966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2026-07-14T02:58:55.6650000Z</dcterms:created>
  <dcterms:modified xsi:type="dcterms:W3CDTF">2026-07-14T02:58:55.6650000Z</dcterms:modified>
</coreProperties>
</file>